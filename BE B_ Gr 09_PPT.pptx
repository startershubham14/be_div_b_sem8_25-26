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2"/>
  </p:notesMasterIdLst>
  <p:sldIdLst>
    <p:sldId id="256" r:id="rId2"/>
    <p:sldId id="270" r:id="rId3"/>
    <p:sldId id="257" r:id="rId4"/>
    <p:sldId id="291" r:id="rId5"/>
    <p:sldId id="281" r:id="rId6"/>
    <p:sldId id="286" r:id="rId7"/>
    <p:sldId id="262" r:id="rId8"/>
    <p:sldId id="265" r:id="rId9"/>
    <p:sldId id="292" r:id="rId10"/>
    <p:sldId id="272" r:id="rId11"/>
    <p:sldId id="290" r:id="rId12"/>
    <p:sldId id="277" r:id="rId13"/>
    <p:sldId id="278" r:id="rId14"/>
    <p:sldId id="279" r:id="rId15"/>
    <p:sldId id="288" r:id="rId16"/>
    <p:sldId id="263"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54" autoAdjust="0"/>
    <p:restoredTop sz="95033" autoAdjust="0"/>
  </p:normalViewPr>
  <p:slideViewPr>
    <p:cSldViewPr snapToGrid="0" snapToObjects="1">
      <p:cViewPr varScale="1">
        <p:scale>
          <a:sx n="78" d="100"/>
          <a:sy n="78" d="100"/>
        </p:scale>
        <p:origin x="922"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56539-E7F0-4399-BF07-070AC51E7D5F}" type="datetimeFigureOut">
              <a:rPr lang="en-IN" smtClean="0"/>
              <a:t>23-04-2026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FEC177-8B07-4E53-8188-7E9C4A63FCE3}" type="slidenum">
              <a:rPr lang="en-IN" smtClean="0"/>
              <a:t>‹#›</a:t>
            </a:fld>
            <a:endParaRPr lang="en-IN" dirty="0"/>
          </a:p>
        </p:txBody>
      </p:sp>
    </p:spTree>
    <p:extLst>
      <p:ext uri="{BB962C8B-B14F-4D97-AF65-F5344CB8AC3E}">
        <p14:creationId xmlns:p14="http://schemas.microsoft.com/office/powerpoint/2010/main" val="843053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B61EC29C-AF6B-E788-28F8-E70AAFE564E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1pPr>
            <a:lvl2pPr marL="742950" indent="-28575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2pPr>
            <a:lvl3pPr marL="11430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3pPr>
            <a:lvl4pPr marL="16002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4pPr>
            <a:lvl5pPr marL="2057400" indent="-228600">
              <a:spcBef>
                <a:spcPct val="30000"/>
              </a:spcBef>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Lst>
              <a:defRPr sz="1200">
                <a:solidFill>
                  <a:srgbClr val="000000"/>
                </a:solidFill>
                <a:latin typeface="Times New Roman" panose="02020603050405020304" pitchFamily="18" charset="0"/>
              </a:defRPr>
            </a:lvl9pPr>
          </a:lstStyle>
          <a:p>
            <a:pPr fontAlgn="base">
              <a:spcBef>
                <a:spcPct val="0"/>
              </a:spcBef>
              <a:spcAft>
                <a:spcPct val="0"/>
              </a:spcAft>
            </a:pPr>
            <a:fld id="{4FE54035-9607-44D1-AF99-87C2C53C94E7}" type="slidenum">
              <a:rPr lang="en-IN" altLang="en-US" sz="1400" smtClean="0"/>
              <a:pPr fontAlgn="base">
                <a:spcBef>
                  <a:spcPct val="0"/>
                </a:spcBef>
                <a:spcAft>
                  <a:spcPct val="0"/>
                </a:spcAft>
              </a:pPr>
              <a:t>2</a:t>
            </a:fld>
            <a:endParaRPr lang="en-IN" altLang="en-US" sz="1400" dirty="0"/>
          </a:p>
        </p:txBody>
      </p:sp>
      <p:sp>
        <p:nvSpPr>
          <p:cNvPr id="11267" name="Rectangle 1">
            <a:extLst>
              <a:ext uri="{FF2B5EF4-FFF2-40B4-BE49-F238E27FC236}">
                <a16:creationId xmlns:a16="http://schemas.microsoft.com/office/drawing/2014/main" id="{ECCAD9CA-95F0-278E-8F39-A0B2D82F2B6E}"/>
              </a:ext>
            </a:extLst>
          </p:cNvPr>
          <p:cNvSpPr>
            <a:spLocks noGrp="1" noRot="1" noChangeAspect="1" noChangeArrowheads="1" noTextEdit="1"/>
          </p:cNvSpPr>
          <p:nvPr>
            <p:ph type="sldImg"/>
          </p:nvPr>
        </p:nvSpPr>
        <p:spPr>
          <a:xfrm>
            <a:off x="217488" y="812800"/>
            <a:ext cx="7124700" cy="4008438"/>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8" name="Rectangle 2">
            <a:extLst>
              <a:ext uri="{FF2B5EF4-FFF2-40B4-BE49-F238E27FC236}">
                <a16:creationId xmlns:a16="http://schemas.microsoft.com/office/drawing/2014/main" id="{AD8CCBE1-7B6F-F8DF-350B-B165D673CE4B}"/>
              </a:ext>
            </a:extLst>
          </p:cNvPr>
          <p:cNvSpPr>
            <a:spLocks noGrp="1" noChangeArrowheads="1"/>
          </p:cNvSpPr>
          <p:nvPr>
            <p:ph type="body" idx="1"/>
          </p:nvPr>
        </p:nvSpPr>
        <p:spPr>
          <a:xfrm>
            <a:off x="755650" y="5078413"/>
            <a:ext cx="6048375" cy="48117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014530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46939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267282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855086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747409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971287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07280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42692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dirty="0"/>
          </a:p>
        </p:txBody>
      </p:sp>
    </p:spTree>
    <p:extLst>
      <p:ext uri="{BB962C8B-B14F-4D97-AF65-F5344CB8AC3E}">
        <p14:creationId xmlns:p14="http://schemas.microsoft.com/office/powerpoint/2010/main" val="190475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6268508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895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0862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790356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929151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04751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172959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4/23/2026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81875560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90917" y="1691148"/>
            <a:ext cx="7669161" cy="1476595"/>
          </a:xfrm>
        </p:spPr>
        <p:txBody>
          <a:bodyPr/>
          <a:lstStyle/>
          <a:p>
            <a:pPr algn="l"/>
            <a:r>
              <a:rPr lang="en-US" sz="3200" b="1" dirty="0">
                <a:solidFill>
                  <a:schemeClr val="tx1"/>
                </a:solidFill>
                <a:latin typeface="Times New Roman" panose="02020603050405020304" pitchFamily="18" charset="0"/>
                <a:cs typeface="Times New Roman" panose="02020603050405020304" pitchFamily="18" charset="0"/>
              </a:rPr>
              <a:t>Enhanced Natural Language Interaction Platform with offensive content filtering</a:t>
            </a:r>
            <a:r>
              <a:rPr lang="en-US" sz="32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sp>
        <p:nvSpPr>
          <p:cNvPr id="3" name="Subtitle 2"/>
          <p:cNvSpPr>
            <a:spLocks noGrp="1"/>
          </p:cNvSpPr>
          <p:nvPr>
            <p:ph type="subTitle" idx="1"/>
          </p:nvPr>
        </p:nvSpPr>
        <p:spPr>
          <a:xfrm>
            <a:off x="2654597" y="3690258"/>
            <a:ext cx="6449781" cy="2829415"/>
          </a:xfrm>
        </p:spPr>
        <p:txBody>
          <a:bodyPr>
            <a:normAutofit/>
          </a:bodyPr>
          <a:lstStyle/>
          <a:p>
            <a:pPr algn="ctr"/>
            <a:r>
              <a:rPr lang="en-IN" sz="2400" b="1" dirty="0">
                <a:solidFill>
                  <a:schemeClr val="tx1"/>
                </a:solidFill>
                <a:latin typeface="Times New Roman" panose="02020603050405020304" pitchFamily="18" charset="0"/>
                <a:cs typeface="Times New Roman" panose="02020603050405020304" pitchFamily="18" charset="0"/>
              </a:rPr>
              <a:t>Shubham Patil (22106047)</a:t>
            </a:r>
          </a:p>
          <a:p>
            <a:pPr algn="ctr"/>
            <a:r>
              <a:rPr lang="en-IN" sz="2400" b="1" dirty="0">
                <a:solidFill>
                  <a:schemeClr val="tx1"/>
                </a:solidFill>
                <a:latin typeface="Times New Roman" panose="02020603050405020304" pitchFamily="18" charset="0"/>
                <a:cs typeface="Times New Roman" panose="02020603050405020304" pitchFamily="18" charset="0"/>
              </a:rPr>
              <a:t>Yuvraj Tiwari (22106061)</a:t>
            </a:r>
          </a:p>
          <a:p>
            <a:pPr algn="ctr"/>
            <a:endParaRPr lang="en-IN" sz="2400" b="1" dirty="0">
              <a:solidFill>
                <a:schemeClr val="tx1"/>
              </a:solidFill>
              <a:latin typeface="Times New Roman" panose="02020603050405020304" pitchFamily="18" charset="0"/>
              <a:cs typeface="Times New Roman" panose="02020603050405020304" pitchFamily="18" charset="0"/>
            </a:endParaRPr>
          </a:p>
          <a:p>
            <a:pPr algn="ctr"/>
            <a:r>
              <a:rPr lang="en-IN" sz="2400" b="1" dirty="0">
                <a:solidFill>
                  <a:schemeClr val="tx1"/>
                </a:solidFill>
                <a:latin typeface="Times New Roman" panose="02020603050405020304" pitchFamily="18" charset="0"/>
                <a:cs typeface="Times New Roman" panose="02020603050405020304" pitchFamily="18" charset="0"/>
              </a:rPr>
              <a:t>Project Guide</a:t>
            </a:r>
          </a:p>
          <a:p>
            <a:pPr algn="ctr"/>
            <a:r>
              <a:rPr lang="en-IN" sz="2400" b="1" dirty="0">
                <a:solidFill>
                  <a:schemeClr val="tx1"/>
                </a:solidFill>
                <a:latin typeface="Times New Roman" panose="02020603050405020304" pitchFamily="18" charset="0"/>
                <a:cs typeface="Times New Roman" panose="02020603050405020304" pitchFamily="18" charset="0"/>
              </a:rPr>
              <a:t>Prof. Darshana B.</a:t>
            </a:r>
          </a:p>
          <a:p>
            <a:pPr algn="ctr"/>
            <a:endParaRP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C851F33-4988-FC77-215E-432B6567E63A}"/>
              </a:ext>
            </a:extLst>
          </p:cNvPr>
          <p:cNvPicPr>
            <a:picLocks noChangeAspect="1"/>
          </p:cNvPicPr>
          <p:nvPr/>
        </p:nvPicPr>
        <p:blipFill>
          <a:blip r:embed="rId2"/>
          <a:stretch>
            <a:fillRect/>
          </a:stretch>
        </p:blipFill>
        <p:spPr>
          <a:xfrm>
            <a:off x="1314450" y="0"/>
            <a:ext cx="9353550" cy="16911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a:extLst>
              <a:ext uri="{FF2B5EF4-FFF2-40B4-BE49-F238E27FC236}">
                <a16:creationId xmlns:a16="http://schemas.microsoft.com/office/drawing/2014/main" id="{454C497F-FCAF-9F6A-128D-D3DFFE47EC8A}"/>
              </a:ext>
            </a:extLst>
          </p:cNvPr>
          <p:cNvSpPr>
            <a:spLocks noChangeArrowheads="1"/>
          </p:cNvSpPr>
          <p:nvPr/>
        </p:nvSpPr>
        <p:spPr bwMode="auto">
          <a:xfrm>
            <a:off x="1981921" y="131401"/>
            <a:ext cx="8228160" cy="9590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8737" rIns="0" bIns="0" anchor="ctr"/>
          <a:lstStyle>
            <a:lvl1pPr>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ctr" eaLnBrk="1" hangingPunct="1">
              <a:lnSpc>
                <a:spcPct val="93000"/>
              </a:lnSpc>
              <a:buClr>
                <a:srgbClr val="000000"/>
              </a:buClr>
              <a:buSzPct val="100000"/>
              <a:buFont typeface="Times New Roman" panose="02020603050405020304" pitchFamily="18" charset="0"/>
              <a:buNone/>
            </a:pPr>
            <a:r>
              <a:rPr lang="en-IN" altLang="en-US" sz="3266" b="1" dirty="0">
                <a:solidFill>
                  <a:srgbClr val="000000"/>
                </a:solidFill>
                <a:latin typeface="Times New Roman" panose="02020603050405020304" pitchFamily="18" charset="0"/>
                <a:cs typeface="DejaVu Sans" charset="0"/>
              </a:rPr>
              <a:t>Outline</a:t>
            </a:r>
          </a:p>
        </p:txBody>
      </p:sp>
      <p:sp>
        <p:nvSpPr>
          <p:cNvPr id="10243" name="Rectangle 2">
            <a:extLst>
              <a:ext uri="{FF2B5EF4-FFF2-40B4-BE49-F238E27FC236}">
                <a16:creationId xmlns:a16="http://schemas.microsoft.com/office/drawing/2014/main" id="{0B5BF431-DA63-4DEB-E8D4-3547FE41F263}"/>
              </a:ext>
            </a:extLst>
          </p:cNvPr>
          <p:cNvSpPr>
            <a:spLocks noChangeArrowheads="1"/>
          </p:cNvSpPr>
          <p:nvPr/>
        </p:nvSpPr>
        <p:spPr bwMode="auto">
          <a:xfrm>
            <a:off x="1981921" y="1122121"/>
            <a:ext cx="8457120" cy="5060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19267" rIns="0" bIns="0"/>
          <a:lstStyle>
            <a:lvl1pPr marL="430213" indent="-322263">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1pPr>
            <a:lvl2pPr marL="742950" indent="-28575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2pPr>
            <a:lvl3pPr marL="11430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3pPr>
            <a:lvl4pPr marL="16002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4pPr>
            <a:lvl5pPr marL="2057400" indent="-22860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5pPr>
            <a:lvl6pPr marL="25146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6pPr>
            <a:lvl7pPr marL="29718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7pPr>
            <a:lvl8pPr marL="34290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8pPr>
            <a:lvl9pPr marL="3886200" indent="-228600" defTabSz="457200" eaLnBrk="0" fontAlgn="base" hangingPunct="0">
              <a:spcBef>
                <a:spcPct val="0"/>
              </a:spcBef>
              <a:spcAft>
                <a:spcPct val="0"/>
              </a:spcAft>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Trebuchet MS" panose="020B0603020202020204" pitchFamily="34" charset="0"/>
              </a:defRPr>
            </a:lvl9pPr>
          </a:lstStyle>
          <a:p>
            <a:pPr algn="just">
              <a:lnSpc>
                <a:spcPct val="150000"/>
              </a:lnSpc>
              <a:buFont typeface="Wingdings" panose="05000000000000000000" pitchFamily="2" charset="2"/>
              <a:buChar char="§"/>
            </a:pPr>
            <a:r>
              <a:rPr lang="en-IN" altLang="en-US" dirty="0"/>
              <a:t>Introduction</a:t>
            </a:r>
          </a:p>
          <a:p>
            <a:pPr algn="just">
              <a:lnSpc>
                <a:spcPct val="150000"/>
              </a:lnSpc>
              <a:buFont typeface="Wingdings" panose="05000000000000000000" pitchFamily="2" charset="2"/>
              <a:buChar char="§"/>
            </a:pPr>
            <a:r>
              <a:rPr lang="en-IN" altLang="en-US" dirty="0"/>
              <a:t>Literature Survey of the existing systems</a:t>
            </a:r>
          </a:p>
          <a:p>
            <a:pPr algn="just">
              <a:lnSpc>
                <a:spcPct val="150000"/>
              </a:lnSpc>
              <a:buFont typeface="Wingdings" panose="05000000000000000000" pitchFamily="2" charset="2"/>
              <a:buChar char="§"/>
            </a:pPr>
            <a:r>
              <a:rPr lang="en-IN" altLang="en-US" dirty="0"/>
              <a:t>Limitations of the existing systems</a:t>
            </a:r>
          </a:p>
          <a:p>
            <a:pPr algn="just">
              <a:lnSpc>
                <a:spcPct val="150000"/>
              </a:lnSpc>
              <a:buFont typeface="Wingdings" panose="05000000000000000000" pitchFamily="2" charset="2"/>
              <a:buChar char="§"/>
            </a:pPr>
            <a:r>
              <a:rPr lang="en-IN" altLang="en-US" dirty="0"/>
              <a:t>Problem statement and Objective</a:t>
            </a:r>
          </a:p>
          <a:p>
            <a:pPr algn="just">
              <a:lnSpc>
                <a:spcPct val="150000"/>
              </a:lnSpc>
              <a:buFont typeface="Wingdings" panose="05000000000000000000" pitchFamily="2" charset="2"/>
              <a:buChar char="§"/>
            </a:pPr>
            <a:r>
              <a:rPr lang="en-US" altLang="en-US" dirty="0"/>
              <a:t>Proposed System</a:t>
            </a:r>
          </a:p>
          <a:p>
            <a:pPr algn="just">
              <a:lnSpc>
                <a:spcPct val="150000"/>
              </a:lnSpc>
              <a:buFont typeface="Wingdings" panose="05000000000000000000" pitchFamily="2" charset="2"/>
              <a:buChar char="§"/>
            </a:pPr>
            <a:r>
              <a:rPr lang="en-US" altLang="en-US" dirty="0"/>
              <a:t>Experimental Setup(Details about input/ dataset, Performance evaluation parameters, Software and hardware setup)</a:t>
            </a:r>
          </a:p>
          <a:p>
            <a:pPr algn="just">
              <a:lnSpc>
                <a:spcPct val="150000"/>
              </a:lnSpc>
              <a:buFont typeface="Wingdings" panose="05000000000000000000" pitchFamily="2" charset="2"/>
              <a:buChar char="§"/>
            </a:pPr>
            <a:r>
              <a:rPr lang="en-US" altLang="en-US" dirty="0"/>
              <a:t>Implementation(Screenshots of all modules)</a:t>
            </a:r>
          </a:p>
          <a:p>
            <a:pPr algn="just">
              <a:lnSpc>
                <a:spcPct val="150000"/>
              </a:lnSpc>
              <a:buFont typeface="Wingdings" panose="05000000000000000000" pitchFamily="2" charset="2"/>
              <a:buChar char="§"/>
            </a:pPr>
            <a:r>
              <a:rPr lang="en-US" altLang="en-US" dirty="0"/>
              <a:t>Conclusion and future work</a:t>
            </a:r>
          </a:p>
          <a:p>
            <a:pPr algn="just">
              <a:lnSpc>
                <a:spcPct val="150000"/>
              </a:lnSpc>
              <a:buFont typeface="Wingdings" panose="05000000000000000000" pitchFamily="2" charset="2"/>
              <a:buChar char="§"/>
            </a:pPr>
            <a:r>
              <a:rPr lang="en-IN" altLang="en-US" dirty="0"/>
              <a:t>References</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9738" y="600075"/>
            <a:ext cx="6347713" cy="766916"/>
          </a:xfrm>
        </p:spPr>
        <p:txBody>
          <a:bodyPr>
            <a:normAutofit/>
          </a:bodyPr>
          <a:lstStyle/>
          <a:p>
            <a:r>
              <a:rPr sz="3270"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709738" y="1457634"/>
            <a:ext cx="8201025" cy="4714566"/>
          </a:xfrm>
        </p:spPr>
        <p:txBody>
          <a:bodyPr>
            <a:normAutofit/>
          </a:bodyPr>
          <a:lstStyle/>
          <a:p>
            <a:pPr marL="0" indent="0" algn="just">
              <a:lnSpc>
                <a:spcPct val="120000"/>
              </a:lnSpc>
              <a:buNone/>
            </a:pPr>
            <a:r>
              <a:rPr lang="en-US" b="1" dirty="0">
                <a:solidFill>
                  <a:schemeClr val="tx1"/>
                </a:solidFill>
                <a:latin typeface="Times New Roman" panose="02020603050405020304" pitchFamily="18" charset="0"/>
                <a:cs typeface="Times New Roman" panose="02020603050405020304" pitchFamily="18" charset="0"/>
              </a:rPr>
              <a:t>The Digital Communication Challenge: </a:t>
            </a:r>
            <a:r>
              <a:rPr lang="en-US" dirty="0">
                <a:solidFill>
                  <a:schemeClr val="tx1"/>
                </a:solidFill>
                <a:latin typeface="Times New Roman" panose="02020603050405020304" pitchFamily="18" charset="0"/>
                <a:cs typeface="Times New Roman" panose="02020603050405020304" pitchFamily="18" charset="0"/>
              </a:rPr>
              <a:t>In today's digital age, the convenience of chat applications is often undermined by the prevalence of inappropriate content, such as vulgarity, hate speech, and irrelevant messages.</a:t>
            </a:r>
          </a:p>
          <a:p>
            <a:pPr marL="0" indent="0" algn="just">
              <a:lnSpc>
                <a:spcPct val="120000"/>
              </a:lnSpc>
              <a:buNone/>
            </a:pPr>
            <a:endParaRPr lang="en-US" dirty="0">
              <a:solidFill>
                <a:schemeClr val="tx1"/>
              </a:solidFill>
              <a:latin typeface="Times New Roman" panose="02020603050405020304" pitchFamily="18" charset="0"/>
              <a:cs typeface="Times New Roman" panose="02020603050405020304" pitchFamily="18" charset="0"/>
            </a:endParaRPr>
          </a:p>
          <a:p>
            <a:pPr marL="0" indent="0" algn="just">
              <a:lnSpc>
                <a:spcPct val="120000"/>
              </a:lnSpc>
              <a:buNone/>
            </a:pPr>
            <a:r>
              <a:rPr lang="en-US" b="1" dirty="0">
                <a:solidFill>
                  <a:schemeClr val="tx1"/>
                </a:solidFill>
                <a:latin typeface="Times New Roman" panose="02020603050405020304" pitchFamily="18" charset="0"/>
                <a:cs typeface="Times New Roman" panose="02020603050405020304" pitchFamily="18" charset="0"/>
              </a:rPr>
              <a:t>Motivation: </a:t>
            </a:r>
            <a:r>
              <a:rPr lang="en-US" dirty="0">
                <a:solidFill>
                  <a:schemeClr val="tx1"/>
                </a:solidFill>
                <a:latin typeface="Times New Roman" panose="02020603050405020304" pitchFamily="18" charset="0"/>
                <a:cs typeface="Times New Roman" panose="02020603050405020304" pitchFamily="18" charset="0"/>
              </a:rPr>
              <a:t>This project is motivated by the observation that many widely-used chat platforms lack effective, real-time mechanisms to prevent such harmful content from being sent, creating disruptions in professional environments and potential legal repercussions.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1E279-EA9D-8BD3-815D-B1B7F87DB7D5}"/>
              </a:ext>
            </a:extLst>
          </p:cNvPr>
          <p:cNvSpPr>
            <a:spLocks noGrp="1"/>
          </p:cNvSpPr>
          <p:nvPr>
            <p:ph type="title"/>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Objective </a:t>
            </a:r>
          </a:p>
        </p:txBody>
      </p:sp>
      <p:sp>
        <p:nvSpPr>
          <p:cNvPr id="3" name="Content Placeholder 2">
            <a:extLst>
              <a:ext uri="{FF2B5EF4-FFF2-40B4-BE49-F238E27FC236}">
                <a16:creationId xmlns:a16="http://schemas.microsoft.com/office/drawing/2014/main" id="{0777A4E6-2319-3DF4-D0A4-9440FD26AA9B}"/>
              </a:ext>
            </a:extLst>
          </p:cNvPr>
          <p:cNvSpPr>
            <a:spLocks noGrp="1"/>
          </p:cNvSpPr>
          <p:nvPr>
            <p:ph idx="1"/>
          </p:nvPr>
        </p:nvSpPr>
        <p:spPr>
          <a:xfrm>
            <a:off x="677334" y="1930401"/>
            <a:ext cx="9223750" cy="4110962"/>
          </a:xfrm>
        </p:spPr>
        <p:txBody>
          <a:bodyPr>
            <a:normAutofit fontScale="92500" lnSpcReduction="20000"/>
          </a:bodyPr>
          <a:lstStyle/>
          <a:p>
            <a:pPr marL="0" indent="0" algn="just">
              <a:lnSpc>
                <a:spcPct val="120000"/>
              </a:lnSpc>
              <a:buNone/>
            </a:pPr>
            <a:r>
              <a:rPr lang="en-US" sz="1900" b="1" dirty="0">
                <a:solidFill>
                  <a:schemeClr val="tx1"/>
                </a:solidFill>
                <a:latin typeface="Times New Roman" panose="02020603050405020304" pitchFamily="18" charset="0"/>
                <a:cs typeface="Times New Roman" panose="02020603050405020304" pitchFamily="18" charset="0"/>
              </a:rPr>
              <a:t>Project Objective: </a:t>
            </a:r>
            <a:r>
              <a:rPr lang="en-US" sz="1900" dirty="0">
                <a:solidFill>
                  <a:schemeClr val="tx1"/>
                </a:solidFill>
                <a:latin typeface="Times New Roman" panose="02020603050405020304" pitchFamily="18" charset="0"/>
                <a:cs typeface="Times New Roman" panose="02020603050405020304" pitchFamily="18" charset="0"/>
              </a:rPr>
              <a:t>The core objective is to develop an intelligent chat application that addresses this gap. The system is designed to enhance the quality of professional communication by proactively detecting and blocking offensive messages before they are delivered.</a:t>
            </a:r>
          </a:p>
          <a:p>
            <a:pPr marL="0" indent="0" algn="just">
              <a:lnSpc>
                <a:spcPct val="120000"/>
              </a:lnSpc>
              <a:buNone/>
            </a:pPr>
            <a:r>
              <a:rPr lang="en-US" sz="1900" b="1" dirty="0">
                <a:solidFill>
                  <a:schemeClr val="tx1"/>
                </a:solidFill>
                <a:latin typeface="Times New Roman" panose="02020603050405020304" pitchFamily="18" charset="0"/>
                <a:cs typeface="Times New Roman" panose="02020603050405020304" pitchFamily="18" charset="0"/>
              </a:rPr>
              <a:t>Technological Approach: </a:t>
            </a:r>
            <a:r>
              <a:rPr lang="en-US" sz="1900" dirty="0">
                <a:solidFill>
                  <a:schemeClr val="tx1"/>
                </a:solidFill>
                <a:latin typeface="Times New Roman" panose="02020603050405020304" pitchFamily="18" charset="0"/>
                <a:cs typeface="Times New Roman" panose="02020603050405020304" pitchFamily="18" charset="0"/>
              </a:rPr>
              <a:t>By leveraging Natural Language Processing (NLP) and machine learning and Deep Learning algorithms, the application will identify inappropriate content, including slang and abusive language, and either block or replace it with suitable alternatives, ensuring respectful and professional interactions.</a:t>
            </a:r>
          </a:p>
          <a:p>
            <a:pPr marL="0" indent="0" algn="just">
              <a:buNone/>
            </a:pPr>
            <a:r>
              <a:rPr lang="en-IN" sz="1900" b="1" dirty="0">
                <a:solidFill>
                  <a:schemeClr val="tx1"/>
                </a:solidFill>
                <a:latin typeface="Times New Roman" panose="02020603050405020304" pitchFamily="18" charset="0"/>
                <a:cs typeface="Times New Roman" panose="02020603050405020304" pitchFamily="18" charset="0"/>
              </a:rPr>
              <a:t>Contribution to UN Sustainable Development Goals(SDGs) </a:t>
            </a:r>
            <a:endParaRPr lang="en-US" sz="1900" b="1"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900" b="1" dirty="0">
                <a:solidFill>
                  <a:schemeClr val="tx1"/>
                </a:solidFill>
                <a:latin typeface="Times New Roman" panose="02020603050405020304" pitchFamily="18" charset="0"/>
                <a:cs typeface="Times New Roman" panose="02020603050405020304" pitchFamily="18" charset="0"/>
              </a:rPr>
              <a:t>1) SDG Goal 16: Peace, Justice and Strong Institutions</a:t>
            </a:r>
          </a:p>
          <a:p>
            <a:pPr marL="0" indent="0" algn="just">
              <a:buNone/>
            </a:pPr>
            <a:r>
              <a:rPr lang="en-US" sz="1900" dirty="0">
                <a:solidFill>
                  <a:schemeClr val="tx1"/>
                </a:solidFill>
                <a:latin typeface="Times New Roman" panose="02020603050405020304" pitchFamily="18" charset="0"/>
                <a:cs typeface="Times New Roman" panose="02020603050405020304" pitchFamily="18" charset="0"/>
              </a:rPr>
              <a:t>Detects and blocks hate speech, abusive content, and cyberbullying in real-time.</a:t>
            </a:r>
          </a:p>
          <a:p>
            <a:pPr marL="0" indent="0" algn="just">
              <a:buNone/>
            </a:pPr>
            <a:r>
              <a:rPr lang="en-US" sz="1900" dirty="0">
                <a:solidFill>
                  <a:schemeClr val="tx1"/>
                </a:solidFill>
                <a:latin typeface="Times New Roman" panose="02020603050405020304" pitchFamily="18" charset="0"/>
                <a:cs typeface="Times New Roman" panose="02020603050405020304" pitchFamily="18" charset="0"/>
              </a:rPr>
              <a:t>Promotes safe, respectful, and peaceful communication in digital platforms.</a:t>
            </a:r>
          </a:p>
          <a:p>
            <a:pPr marL="0" indent="0" algn="just">
              <a:buNone/>
            </a:pPr>
            <a:r>
              <a:rPr lang="en-US" sz="1900" dirty="0">
                <a:solidFill>
                  <a:schemeClr val="tx1"/>
                </a:solidFill>
                <a:latin typeface="Times New Roman" panose="02020603050405020304" pitchFamily="18" charset="0"/>
                <a:cs typeface="Times New Roman" panose="02020603050405020304" pitchFamily="18" charset="0"/>
              </a:rPr>
              <a:t>Supports ethical AI to reduce online conflict and harassment</a:t>
            </a:r>
          </a:p>
          <a:p>
            <a:endParaRPr lang="en-IN" dirty="0"/>
          </a:p>
        </p:txBody>
      </p:sp>
    </p:spTree>
    <p:extLst>
      <p:ext uri="{BB962C8B-B14F-4D97-AF65-F5344CB8AC3E}">
        <p14:creationId xmlns:p14="http://schemas.microsoft.com/office/powerpoint/2010/main" val="3898638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B1DAD-8942-B12C-AB0E-2EFB09C81B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23DA19-8650-97F6-94ED-54B6E9D02530}"/>
              </a:ext>
            </a:extLst>
          </p:cNvPr>
          <p:cNvSpPr txBox="1"/>
          <p:nvPr/>
        </p:nvSpPr>
        <p:spPr>
          <a:xfrm>
            <a:off x="1056661" y="230436"/>
            <a:ext cx="8165690" cy="595548"/>
          </a:xfrm>
          <a:prstGeom prst="rect">
            <a:avLst/>
          </a:prstGeom>
          <a:noFill/>
        </p:spPr>
        <p:txBody>
          <a:bodyPr wrap="square">
            <a:spAutoFit/>
          </a:bodyPr>
          <a:lstStyle/>
          <a:p>
            <a:r>
              <a:rPr lang="en-US" sz="3270" dirty="0"/>
              <a:t>Literature Survey of the existing system</a:t>
            </a:r>
            <a:endParaRPr lang="en-IN" sz="3270" dirty="0"/>
          </a:p>
        </p:txBody>
      </p:sp>
      <p:graphicFrame>
        <p:nvGraphicFramePr>
          <p:cNvPr id="2" name="Table 1">
            <a:extLst>
              <a:ext uri="{FF2B5EF4-FFF2-40B4-BE49-F238E27FC236}">
                <a16:creationId xmlns:a16="http://schemas.microsoft.com/office/drawing/2014/main" id="{DA5B98A6-AD36-555D-60D9-26E8F53C5378}"/>
              </a:ext>
            </a:extLst>
          </p:cNvPr>
          <p:cNvGraphicFramePr>
            <a:graphicFrameLocks noGrp="1"/>
          </p:cNvGraphicFramePr>
          <p:nvPr>
            <p:extLst>
              <p:ext uri="{D42A27DB-BD31-4B8C-83A1-F6EECF244321}">
                <p14:modId xmlns:p14="http://schemas.microsoft.com/office/powerpoint/2010/main" val="1424523898"/>
              </p:ext>
            </p:extLst>
          </p:nvPr>
        </p:nvGraphicFramePr>
        <p:xfrm>
          <a:off x="1052052" y="825984"/>
          <a:ext cx="9691533" cy="5718461"/>
        </p:xfrm>
        <a:graphic>
          <a:graphicData uri="http://schemas.openxmlformats.org/drawingml/2006/table">
            <a:tbl>
              <a:tblPr firstRow="1" bandRow="1">
                <a:tableStyleId>{5C22544A-7EE6-4342-B048-85BDC9FD1C3A}</a:tableStyleId>
              </a:tblPr>
              <a:tblGrid>
                <a:gridCol w="837079">
                  <a:extLst>
                    <a:ext uri="{9D8B030D-6E8A-4147-A177-3AD203B41FA5}">
                      <a16:colId xmlns:a16="http://schemas.microsoft.com/office/drawing/2014/main" val="4170459796"/>
                    </a:ext>
                  </a:extLst>
                </a:gridCol>
                <a:gridCol w="1777994">
                  <a:extLst>
                    <a:ext uri="{9D8B030D-6E8A-4147-A177-3AD203B41FA5}">
                      <a16:colId xmlns:a16="http://schemas.microsoft.com/office/drawing/2014/main" val="3916178733"/>
                    </a:ext>
                  </a:extLst>
                </a:gridCol>
                <a:gridCol w="2466975">
                  <a:extLst>
                    <a:ext uri="{9D8B030D-6E8A-4147-A177-3AD203B41FA5}">
                      <a16:colId xmlns:a16="http://schemas.microsoft.com/office/drawing/2014/main" val="58186269"/>
                    </a:ext>
                  </a:extLst>
                </a:gridCol>
                <a:gridCol w="2466975">
                  <a:extLst>
                    <a:ext uri="{9D8B030D-6E8A-4147-A177-3AD203B41FA5}">
                      <a16:colId xmlns:a16="http://schemas.microsoft.com/office/drawing/2014/main" val="2393925304"/>
                    </a:ext>
                  </a:extLst>
                </a:gridCol>
                <a:gridCol w="2142510">
                  <a:extLst>
                    <a:ext uri="{9D8B030D-6E8A-4147-A177-3AD203B41FA5}">
                      <a16:colId xmlns:a16="http://schemas.microsoft.com/office/drawing/2014/main" val="2039028481"/>
                    </a:ext>
                  </a:extLst>
                </a:gridCol>
              </a:tblGrid>
              <a:tr h="516483">
                <a:tc>
                  <a:txBody>
                    <a:bodyPr/>
                    <a:lstStyle/>
                    <a:p>
                      <a:pPr algn="just"/>
                      <a:r>
                        <a:rPr lang="en-IN" sz="2000" dirty="0">
                          <a:latin typeface="Times New Roman" panose="02020603050405020304" pitchFamily="18" charset="0"/>
                          <a:cs typeface="Times New Roman" panose="02020603050405020304" pitchFamily="18" charset="0"/>
                        </a:rPr>
                        <a:t>Sr no</a:t>
                      </a:r>
                    </a:p>
                  </a:txBody>
                  <a:tcPr marL="91437" marR="91437" marT="45728" marB="45728"/>
                </a:tc>
                <a:tc>
                  <a:txBody>
                    <a:bodyPr/>
                    <a:lstStyle/>
                    <a:p>
                      <a:pPr algn="just"/>
                      <a:r>
                        <a:rPr lang="en-IN" sz="2000" dirty="0">
                          <a:latin typeface="Times New Roman" panose="02020603050405020304" pitchFamily="18" charset="0"/>
                          <a:cs typeface="Times New Roman" panose="02020603050405020304" pitchFamily="18" charset="0"/>
                        </a:rPr>
                        <a:t>Paper Title</a:t>
                      </a:r>
                    </a:p>
                  </a:txBody>
                  <a:tcPr marL="91437" marR="91437" marT="45728" marB="45728"/>
                </a:tc>
                <a:tc>
                  <a:txBody>
                    <a:bodyPr/>
                    <a:lstStyle/>
                    <a:p>
                      <a:pPr algn="just"/>
                      <a:r>
                        <a:rPr lang="en-IN" sz="2000" dirty="0">
                          <a:latin typeface="Times New Roman" panose="02020603050405020304" pitchFamily="18" charset="0"/>
                          <a:cs typeface="Times New Roman" panose="02020603050405020304" pitchFamily="18" charset="0"/>
                        </a:rPr>
                        <a:t>Author</a:t>
                      </a:r>
                    </a:p>
                  </a:txBody>
                  <a:tcPr marL="91437" marR="91437" marT="45728" marB="45728"/>
                </a:tc>
                <a:tc>
                  <a:txBody>
                    <a:bodyPr/>
                    <a:lstStyle/>
                    <a:p>
                      <a:pPr algn="just"/>
                      <a:r>
                        <a:rPr lang="en-IN" sz="2000" dirty="0">
                          <a:latin typeface="Times New Roman" panose="02020603050405020304" pitchFamily="18" charset="0"/>
                          <a:cs typeface="Times New Roman" panose="02020603050405020304" pitchFamily="18" charset="0"/>
                        </a:rPr>
                        <a:t>Summary</a:t>
                      </a:r>
                    </a:p>
                  </a:txBody>
                  <a:tcPr marL="91437" marR="91437" marT="45728" marB="45728"/>
                </a:tc>
                <a:tc>
                  <a:txBody>
                    <a:bodyPr/>
                    <a:lstStyle/>
                    <a:p>
                      <a:pPr algn="just"/>
                      <a:r>
                        <a:rPr lang="en-IN" sz="2000" dirty="0">
                          <a:latin typeface="Times New Roman" panose="02020603050405020304" pitchFamily="18" charset="0"/>
                          <a:cs typeface="Times New Roman" panose="02020603050405020304" pitchFamily="18" charset="0"/>
                        </a:rPr>
                        <a:t>Limitation</a:t>
                      </a:r>
                    </a:p>
                  </a:txBody>
                  <a:tcPr marL="91437" marR="91437" marT="45728" marB="45728"/>
                </a:tc>
                <a:extLst>
                  <a:ext uri="{0D108BD9-81ED-4DB2-BD59-A6C34878D82A}">
                    <a16:rowId xmlns:a16="http://schemas.microsoft.com/office/drawing/2014/main" val="2211594814"/>
                  </a:ext>
                </a:extLst>
              </a:tr>
              <a:tr h="1286514">
                <a:tc>
                  <a:txBody>
                    <a:bodyPr/>
                    <a:lstStyle/>
                    <a:p>
                      <a:pPr algn="just"/>
                      <a:r>
                        <a:rPr lang="en-IN" sz="1500" dirty="0">
                          <a:latin typeface="Times New Roman" panose="02020603050405020304" pitchFamily="18" charset="0"/>
                          <a:cs typeface="Times New Roman" panose="02020603050405020304" pitchFamily="18" charset="0"/>
                        </a:rPr>
                        <a:t>1.</a:t>
                      </a:r>
                    </a:p>
                  </a:txBody>
                  <a:tcPr marL="91437" marR="91437" marT="45728" marB="45728"/>
                </a:tc>
                <a:tc>
                  <a:txBody>
                    <a:bodyPr/>
                    <a:lstStyle/>
                    <a:p>
                      <a:pPr algn="just"/>
                      <a:r>
                        <a:rPr lang="en-US" sz="1500" dirty="0">
                          <a:latin typeface="Times New Roman" panose="02020603050405020304" pitchFamily="18" charset="0"/>
                          <a:cs typeface="Times New Roman" panose="02020603050405020304" pitchFamily="18" charset="0"/>
                        </a:rPr>
                        <a:t>Analysis of Behavior in Chat Applications using NLP (2024)</a:t>
                      </a:r>
                      <a:endParaRPr lang="en-IN" sz="1500" b="0"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IN" sz="1500" dirty="0">
                          <a:latin typeface="Times New Roman" panose="02020603050405020304" pitchFamily="18" charset="0"/>
                          <a:cs typeface="Times New Roman" panose="02020603050405020304" pitchFamily="18" charset="0"/>
                        </a:rPr>
                        <a:t>Shiny J., </a:t>
                      </a:r>
                      <a:r>
                        <a:rPr lang="en-IN" sz="1500" dirty="0" err="1">
                          <a:latin typeface="Times New Roman" panose="02020603050405020304" pitchFamily="18" charset="0"/>
                          <a:cs typeface="Times New Roman" panose="02020603050405020304" pitchFamily="18" charset="0"/>
                        </a:rPr>
                        <a:t>Penyameen</a:t>
                      </a:r>
                      <a:r>
                        <a:rPr lang="en-IN" sz="1500" dirty="0">
                          <a:latin typeface="Times New Roman" panose="02020603050405020304" pitchFamily="18" charset="0"/>
                          <a:cs typeface="Times New Roman" panose="02020603050405020304" pitchFamily="18" charset="0"/>
                        </a:rPr>
                        <a:t> S., Hannah N., </a:t>
                      </a:r>
                      <a:r>
                        <a:rPr lang="en-IN" sz="1500" dirty="0" err="1">
                          <a:latin typeface="Times New Roman" panose="02020603050405020304" pitchFamily="18" charset="0"/>
                          <a:cs typeface="Times New Roman" panose="02020603050405020304" pitchFamily="18" charset="0"/>
                        </a:rPr>
                        <a:t>Harilakshmi</a:t>
                      </a:r>
                      <a:r>
                        <a:rPr lang="en-IN" sz="1500" dirty="0">
                          <a:latin typeface="Times New Roman" panose="02020603050405020304" pitchFamily="18" charset="0"/>
                          <a:cs typeface="Times New Roman" panose="02020603050405020304" pitchFamily="18" charset="0"/>
                        </a:rPr>
                        <a:t> J.S., Hewin A., Thanusha S.</a:t>
                      </a:r>
                      <a:endParaRPr lang="en-IN" sz="1500" b="1" i="0" kern="1200" dirty="0">
                        <a:solidFill>
                          <a:schemeClr val="dk1"/>
                        </a:solidFill>
                        <a:effectLst/>
                        <a:latin typeface="Times New Roman" panose="02020603050405020304" pitchFamily="18" charset="0"/>
                        <a:ea typeface="+mn-ea"/>
                        <a:cs typeface="Times New Roman" panose="02020603050405020304" pitchFamily="18" charset="0"/>
                      </a:endParaRPr>
                    </a:p>
                  </a:txBody>
                  <a:tcPr marL="91437" marR="91437" marT="45728" marB="45728"/>
                </a:tc>
                <a:tc>
                  <a:txBody>
                    <a:bodyPr/>
                    <a:lstStyle/>
                    <a:p>
                      <a:pPr algn="just"/>
                      <a:r>
                        <a:rPr lang="en-US" sz="1500" dirty="0">
                          <a:latin typeface="Times New Roman" panose="02020603050405020304" pitchFamily="18" charset="0"/>
                          <a:cs typeface="Times New Roman" panose="02020603050405020304" pitchFamily="18" charset="0"/>
                        </a:rPr>
                        <a:t>Existing parental tools give only basic reports; lack real-time &amp; advanced behavior analysis.</a:t>
                      </a:r>
                      <a:endParaRPr lang="en-IN" sz="15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US" sz="1500" dirty="0">
                          <a:latin typeface="Times New Roman" panose="02020603050405020304" pitchFamily="18" charset="0"/>
                          <a:cs typeface="Times New Roman" panose="02020603050405020304" pitchFamily="18" charset="0"/>
                        </a:rPr>
                        <a:t>No real-time analysis, delayed response, unable to detect subtle risks</a:t>
                      </a:r>
                      <a:endParaRPr lang="en-IN" sz="1500" b="1" dirty="0">
                        <a:latin typeface="Times New Roman" panose="02020603050405020304" pitchFamily="18" charset="0"/>
                        <a:cs typeface="Times New Roman" panose="02020603050405020304" pitchFamily="18" charset="0"/>
                      </a:endParaRPr>
                    </a:p>
                  </a:txBody>
                  <a:tcPr marL="91437" marR="91437" marT="45728" marB="45728"/>
                </a:tc>
                <a:extLst>
                  <a:ext uri="{0D108BD9-81ED-4DB2-BD59-A6C34878D82A}">
                    <a16:rowId xmlns:a16="http://schemas.microsoft.com/office/drawing/2014/main" val="1371208437"/>
                  </a:ext>
                </a:extLst>
              </a:tr>
              <a:tr h="1943019">
                <a:tc>
                  <a:txBody>
                    <a:bodyPr/>
                    <a:lstStyle/>
                    <a:p>
                      <a:pPr algn="just"/>
                      <a:r>
                        <a:rPr lang="en-IN" sz="1500" dirty="0">
                          <a:latin typeface="Times New Roman" panose="02020603050405020304" pitchFamily="18" charset="0"/>
                          <a:cs typeface="Times New Roman" panose="02020603050405020304" pitchFamily="18" charset="0"/>
                        </a:rPr>
                        <a:t>2.</a:t>
                      </a:r>
                    </a:p>
                  </a:txBody>
                  <a:tcPr marL="91437" marR="91437" marT="45728" marB="45728"/>
                </a:tc>
                <a:tc>
                  <a:txBody>
                    <a:bodyPr/>
                    <a:lstStyle/>
                    <a:p>
                      <a:pPr algn="just"/>
                      <a:r>
                        <a:rPr lang="en-US" sz="1500" dirty="0">
                          <a:latin typeface="Times New Roman" panose="02020603050405020304" pitchFamily="18" charset="0"/>
                          <a:cs typeface="Times New Roman" panose="02020603050405020304" pitchFamily="18" charset="0"/>
                        </a:rPr>
                        <a:t>AI Enhanced Customer Service Chatbot (2024)</a:t>
                      </a:r>
                      <a:endParaRPr lang="en-IN" sz="1500" b="0"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IN" sz="1500" b="0" dirty="0">
                          <a:solidFill>
                            <a:schemeClr val="tx1"/>
                          </a:solidFill>
                          <a:latin typeface="Times New Roman" panose="02020603050405020304" pitchFamily="18" charset="0"/>
                          <a:cs typeface="Times New Roman" panose="02020603050405020304" pitchFamily="18" charset="0"/>
                        </a:rPr>
                        <a:t>Mahesh V. </a:t>
                      </a:r>
                      <a:r>
                        <a:rPr lang="en-IN" sz="1500" b="0" dirty="0" err="1">
                          <a:solidFill>
                            <a:schemeClr val="tx1"/>
                          </a:solidFill>
                          <a:latin typeface="Times New Roman" panose="02020603050405020304" pitchFamily="18" charset="0"/>
                          <a:cs typeface="Times New Roman" panose="02020603050405020304" pitchFamily="18" charset="0"/>
                        </a:rPr>
                        <a:t>Korde</a:t>
                      </a:r>
                      <a:r>
                        <a:rPr lang="en-IN" sz="1500" b="0" dirty="0">
                          <a:solidFill>
                            <a:schemeClr val="tx1"/>
                          </a:solidFill>
                          <a:latin typeface="Times New Roman" panose="02020603050405020304" pitchFamily="18" charset="0"/>
                          <a:cs typeface="Times New Roman" panose="02020603050405020304" pitchFamily="18" charset="0"/>
                        </a:rPr>
                        <a:t>, Shivam R. Varma,</a:t>
                      </a:r>
                    </a:p>
                    <a:p>
                      <a:pPr algn="just"/>
                      <a:r>
                        <a:rPr lang="en-IN" sz="1500" b="0" dirty="0">
                          <a:solidFill>
                            <a:schemeClr val="tx1"/>
                          </a:solidFill>
                          <a:latin typeface="Times New Roman" panose="02020603050405020304" pitchFamily="18" charset="0"/>
                          <a:cs typeface="Times New Roman" panose="02020603050405020304" pitchFamily="18" charset="0"/>
                        </a:rPr>
                        <a:t>Pritesh N. </a:t>
                      </a:r>
                      <a:r>
                        <a:rPr lang="en-IN" sz="1500" b="0" dirty="0" err="1">
                          <a:solidFill>
                            <a:schemeClr val="tx1"/>
                          </a:solidFill>
                          <a:latin typeface="Times New Roman" panose="02020603050405020304" pitchFamily="18" charset="0"/>
                          <a:cs typeface="Times New Roman" panose="02020603050405020304" pitchFamily="18" charset="0"/>
                        </a:rPr>
                        <a:t>Bhalerao</a:t>
                      </a:r>
                      <a:r>
                        <a:rPr lang="en-IN" sz="1500" b="0" dirty="0">
                          <a:solidFill>
                            <a:schemeClr val="tx1"/>
                          </a:solidFill>
                          <a:latin typeface="Times New Roman" panose="02020603050405020304" pitchFamily="18" charset="0"/>
                          <a:cs typeface="Times New Roman" panose="02020603050405020304" pitchFamily="18" charset="0"/>
                        </a:rPr>
                        <a:t>,</a:t>
                      </a:r>
                    </a:p>
                    <a:p>
                      <a:pPr algn="just"/>
                      <a:r>
                        <a:rPr lang="en-IN" sz="1500" b="0" dirty="0">
                          <a:solidFill>
                            <a:schemeClr val="tx1"/>
                          </a:solidFill>
                          <a:latin typeface="Times New Roman" panose="02020603050405020304" pitchFamily="18" charset="0"/>
                          <a:cs typeface="Times New Roman" panose="02020603050405020304" pitchFamily="18" charset="0"/>
                        </a:rPr>
                        <a:t>Tanvir T. Shaikh,</a:t>
                      </a:r>
                    </a:p>
                    <a:p>
                      <a:pPr algn="just"/>
                      <a:r>
                        <a:rPr lang="en-IN" sz="1500" b="0" dirty="0">
                          <a:solidFill>
                            <a:schemeClr val="tx1"/>
                          </a:solidFill>
                          <a:latin typeface="Times New Roman" panose="02020603050405020304" pitchFamily="18" charset="0"/>
                          <a:cs typeface="Times New Roman" panose="02020603050405020304" pitchFamily="18" charset="0"/>
                        </a:rPr>
                        <a:t>Atharv A. </a:t>
                      </a:r>
                      <a:r>
                        <a:rPr lang="en-IN" sz="1500" b="0" dirty="0" err="1">
                          <a:solidFill>
                            <a:schemeClr val="tx1"/>
                          </a:solidFill>
                          <a:latin typeface="Times New Roman" panose="02020603050405020304" pitchFamily="18" charset="0"/>
                          <a:cs typeface="Times New Roman" panose="02020603050405020304" pitchFamily="18" charset="0"/>
                        </a:rPr>
                        <a:t>Sonawane</a:t>
                      </a:r>
                      <a:r>
                        <a:rPr lang="en-IN" sz="1500" b="0" dirty="0">
                          <a:solidFill>
                            <a:schemeClr val="tx1"/>
                          </a:solidFill>
                          <a:latin typeface="Times New Roman" panose="02020603050405020304" pitchFamily="18" charset="0"/>
                          <a:cs typeface="Times New Roman" panose="02020603050405020304" pitchFamily="18" charset="0"/>
                        </a:rPr>
                        <a:t>.</a:t>
                      </a:r>
                      <a:endParaRPr lang="en-IN" sz="1500" b="0" dirty="0">
                        <a:latin typeface="Times New Roman" panose="02020603050405020304" pitchFamily="18" charset="0"/>
                        <a:cs typeface="Times New Roman" panose="02020603050405020304" pitchFamily="18" charset="0"/>
                      </a:endParaRPr>
                    </a:p>
                    <a:p>
                      <a:pPr algn="just"/>
                      <a:endParaRPr lang="en-IN" sz="1500" b="1" i="0" kern="1200" dirty="0">
                        <a:solidFill>
                          <a:schemeClr val="dk1"/>
                        </a:solidFill>
                        <a:effectLst/>
                        <a:latin typeface="Times New Roman" panose="02020603050405020304" pitchFamily="18" charset="0"/>
                        <a:ea typeface="+mn-ea"/>
                        <a:cs typeface="Times New Roman" panose="02020603050405020304" pitchFamily="18" charset="0"/>
                      </a:endParaRPr>
                    </a:p>
                  </a:txBody>
                  <a:tcPr marL="91437" marR="91437" marT="45728" marB="45728"/>
                </a:tc>
                <a:tc>
                  <a:txBody>
                    <a:bodyPr/>
                    <a:lstStyle/>
                    <a:p>
                      <a:pPr marL="0" marR="0" lvl="0" indent="0" algn="just" defTabSz="503972" rtl="0" eaLnBrk="1" fontAlgn="auto" latinLnBrk="0" hangingPunct="1">
                        <a:lnSpc>
                          <a:spcPct val="100000"/>
                        </a:lnSpc>
                        <a:spcBef>
                          <a:spcPts val="0"/>
                        </a:spcBef>
                        <a:spcAft>
                          <a:spcPts val="0"/>
                        </a:spcAft>
                        <a:buClrTx/>
                        <a:buSzTx/>
                        <a:buFontTx/>
                        <a:buNone/>
                        <a:tabLst/>
                        <a:defRPr/>
                      </a:pPr>
                      <a:r>
                        <a:rPr lang="en-US" sz="1500" b="0" dirty="0">
                          <a:latin typeface="Times New Roman" panose="02020603050405020304" pitchFamily="18" charset="0"/>
                          <a:cs typeface="Times New Roman" panose="02020603050405020304" pitchFamily="18" charset="0"/>
                        </a:rPr>
                        <a:t>AI chatbot provides 24/7 personalized support using NLP/ML, increasing satisfaction and decreasing response time.</a:t>
                      </a:r>
                      <a:endParaRPr lang="en-IN" sz="1500" b="0" dirty="0">
                        <a:latin typeface="Times New Roman" panose="02020603050405020304" pitchFamily="18" charset="0"/>
                        <a:cs typeface="Times New Roman" panose="02020603050405020304" pitchFamily="18" charset="0"/>
                      </a:endParaRPr>
                    </a:p>
                  </a:txBody>
                  <a:tcPr marL="91437" marR="91437" marT="45728" marB="45728"/>
                </a:tc>
                <a:tc>
                  <a:txBody>
                    <a:bodyPr/>
                    <a:lstStyle/>
                    <a:p>
                      <a:pPr marL="0" marR="0" lvl="0" indent="0" algn="just" defTabSz="503972" rtl="0" eaLnBrk="1" fontAlgn="auto" latinLnBrk="0" hangingPunct="1">
                        <a:lnSpc>
                          <a:spcPct val="100000"/>
                        </a:lnSpc>
                        <a:spcBef>
                          <a:spcPts val="0"/>
                        </a:spcBef>
                        <a:spcAft>
                          <a:spcPts val="0"/>
                        </a:spcAft>
                        <a:buClrTx/>
                        <a:buSzTx/>
                        <a:buFontTx/>
                        <a:buNone/>
                        <a:tabLst/>
                        <a:defRPr/>
                      </a:pPr>
                      <a:r>
                        <a:rPr lang="en-US" sz="1500" b="0" dirty="0">
                          <a:latin typeface="Times New Roman" panose="02020603050405020304" pitchFamily="18" charset="0"/>
                          <a:cs typeface="Times New Roman" panose="02020603050405020304" pitchFamily="18" charset="0"/>
                        </a:rPr>
                        <a:t>Requires high computational cost, complex setup, resource-intensive training, and continuous model updates.</a:t>
                      </a:r>
                      <a:endParaRPr lang="en-IN" sz="1500" b="0" dirty="0">
                        <a:latin typeface="Times New Roman" panose="02020603050405020304" pitchFamily="18" charset="0"/>
                        <a:cs typeface="Times New Roman" panose="02020603050405020304" pitchFamily="18" charset="0"/>
                      </a:endParaRPr>
                    </a:p>
                  </a:txBody>
                  <a:tcPr marL="91437" marR="91437" marT="45728" marB="45728"/>
                </a:tc>
                <a:extLst>
                  <a:ext uri="{0D108BD9-81ED-4DB2-BD59-A6C34878D82A}">
                    <a16:rowId xmlns:a16="http://schemas.microsoft.com/office/drawing/2014/main" val="4115737993"/>
                  </a:ext>
                </a:extLst>
              </a:tr>
              <a:tr h="1972445">
                <a:tc>
                  <a:txBody>
                    <a:bodyPr/>
                    <a:lstStyle/>
                    <a:p>
                      <a:pPr algn="just"/>
                      <a:r>
                        <a:rPr lang="en-IN" sz="1500" dirty="0">
                          <a:latin typeface="Times New Roman" panose="02020603050405020304" pitchFamily="18" charset="0"/>
                          <a:cs typeface="Times New Roman" panose="02020603050405020304" pitchFamily="18" charset="0"/>
                        </a:rPr>
                        <a:t>3.</a:t>
                      </a:r>
                    </a:p>
                  </a:txBody>
                  <a:tcPr marL="91437" marR="91437" marT="45728" marB="45728"/>
                </a:tc>
                <a:tc>
                  <a:txBody>
                    <a:bodyPr/>
                    <a:lstStyle/>
                    <a:p>
                      <a:pPr algn="just"/>
                      <a:r>
                        <a:rPr lang="en-US" sz="1500" dirty="0">
                          <a:latin typeface="Times New Roman" panose="02020603050405020304" pitchFamily="18" charset="0"/>
                          <a:cs typeface="Times New Roman" panose="02020603050405020304" pitchFamily="18" charset="0"/>
                        </a:rPr>
                        <a:t>Secure Chat Room Application Using AES-GCM Encryption (2023)</a:t>
                      </a:r>
                      <a:endParaRPr lang="en-IN" sz="15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algn="just"/>
                      <a:r>
                        <a:rPr lang="en-IN" sz="1500" dirty="0">
                          <a:latin typeface="Times New Roman" panose="02020603050405020304" pitchFamily="18" charset="0"/>
                          <a:cs typeface="Times New Roman" panose="02020603050405020304" pitchFamily="18" charset="0"/>
                        </a:rPr>
                        <a:t>Muhammad Faisal Nawaz, Yasir Nawaz</a:t>
                      </a:r>
                      <a:endParaRPr lang="en-IN" sz="1500" b="1" i="0" kern="1200" dirty="0">
                        <a:solidFill>
                          <a:schemeClr val="dk1"/>
                        </a:solidFill>
                        <a:effectLst/>
                        <a:latin typeface="Times New Roman" panose="02020603050405020304" pitchFamily="18" charset="0"/>
                        <a:ea typeface="+mn-ea"/>
                        <a:cs typeface="Times New Roman" panose="02020603050405020304" pitchFamily="18" charset="0"/>
                      </a:endParaRPr>
                    </a:p>
                  </a:txBody>
                  <a:tcPr marL="91437" marR="91437" marT="45728" marB="45728"/>
                </a:tc>
                <a:tc>
                  <a:txBody>
                    <a:bodyPr/>
                    <a:lstStyle/>
                    <a:p>
                      <a:pPr marL="0" marR="0" lvl="0" indent="0" algn="just" defTabSz="503972" rtl="0" eaLnBrk="1" fontAlgn="auto" latinLnBrk="0" hangingPunct="1">
                        <a:lnSpc>
                          <a:spcPct val="100000"/>
                        </a:lnSpc>
                        <a:spcBef>
                          <a:spcPts val="0"/>
                        </a:spcBef>
                        <a:spcAft>
                          <a:spcPts val="0"/>
                        </a:spcAft>
                        <a:buClrTx/>
                        <a:buSzTx/>
                        <a:buFontTx/>
                        <a:buNone/>
                        <a:tabLst/>
                        <a:defRPr/>
                      </a:pPr>
                      <a:r>
                        <a:rPr lang="en-US" sz="1500" dirty="0">
                          <a:latin typeface="Times New Roman" panose="02020603050405020304" pitchFamily="18" charset="0"/>
                          <a:cs typeface="Times New Roman" panose="02020603050405020304" pitchFamily="18" charset="0"/>
                        </a:rPr>
                        <a:t>Uses AES-GCM to secure chatroom, ensures high reliability and zero breaches.</a:t>
                      </a:r>
                      <a:endParaRPr lang="en-IN" sz="1500" b="1" dirty="0">
                        <a:latin typeface="Times New Roman" panose="02020603050405020304" pitchFamily="18" charset="0"/>
                        <a:cs typeface="Times New Roman" panose="02020603050405020304" pitchFamily="18" charset="0"/>
                      </a:endParaRPr>
                    </a:p>
                  </a:txBody>
                  <a:tcPr marL="91437" marR="91437" marT="45728" marB="45728"/>
                </a:tc>
                <a:tc>
                  <a:txBody>
                    <a:bodyPr/>
                    <a:lstStyle/>
                    <a:p>
                      <a:pPr marL="0" marR="0" lvl="0" indent="0" algn="just" defTabSz="503972" rtl="0" eaLnBrk="1" fontAlgn="auto" latinLnBrk="0" hangingPunct="1">
                        <a:lnSpc>
                          <a:spcPct val="100000"/>
                        </a:lnSpc>
                        <a:spcBef>
                          <a:spcPts val="0"/>
                        </a:spcBef>
                        <a:spcAft>
                          <a:spcPts val="0"/>
                        </a:spcAft>
                        <a:buClrTx/>
                        <a:buSzTx/>
                        <a:buFontTx/>
                        <a:buNone/>
                        <a:tabLst/>
                        <a:defRPr/>
                      </a:pPr>
                      <a:r>
                        <a:rPr lang="en-US" sz="1500" dirty="0">
                          <a:latin typeface="Times New Roman" panose="02020603050405020304" pitchFamily="18" charset="0"/>
                          <a:cs typeface="Times New Roman" panose="02020603050405020304" pitchFamily="18" charset="0"/>
                        </a:rPr>
                        <a:t>Uses AES-GCM to secure chatroom, ensures high reliability and zero breaches. No real-time analysis  for contents messages.</a:t>
                      </a:r>
                      <a:endParaRPr lang="en-IN" sz="1500" b="1" dirty="0">
                        <a:latin typeface="Times New Roman" panose="02020603050405020304" pitchFamily="18" charset="0"/>
                        <a:cs typeface="Times New Roman" panose="02020603050405020304" pitchFamily="18" charset="0"/>
                      </a:endParaRPr>
                    </a:p>
                  </a:txBody>
                  <a:tcPr marL="91437" marR="91437" marT="45728" marB="45728"/>
                </a:tc>
                <a:extLst>
                  <a:ext uri="{0D108BD9-81ED-4DB2-BD59-A6C34878D82A}">
                    <a16:rowId xmlns:a16="http://schemas.microsoft.com/office/drawing/2014/main" val="1254285801"/>
                  </a:ext>
                </a:extLst>
              </a:tr>
            </a:tbl>
          </a:graphicData>
        </a:graphic>
      </p:graphicFrame>
    </p:spTree>
    <p:extLst>
      <p:ext uri="{BB962C8B-B14F-4D97-AF65-F5344CB8AC3E}">
        <p14:creationId xmlns:p14="http://schemas.microsoft.com/office/powerpoint/2010/main" val="276459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4640C-D937-5046-061C-3CAE70A1CAA0}"/>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CD20C37-9074-94AA-1BDF-0238A314727F}"/>
              </a:ext>
            </a:extLst>
          </p:cNvPr>
          <p:cNvGraphicFramePr>
            <a:graphicFrameLocks noGrp="1"/>
          </p:cNvGraphicFramePr>
          <p:nvPr>
            <p:extLst>
              <p:ext uri="{D42A27DB-BD31-4B8C-83A1-F6EECF244321}">
                <p14:modId xmlns:p14="http://schemas.microsoft.com/office/powerpoint/2010/main" val="1113330354"/>
              </p:ext>
            </p:extLst>
          </p:nvPr>
        </p:nvGraphicFramePr>
        <p:xfrm>
          <a:off x="856636" y="417078"/>
          <a:ext cx="9686924" cy="5866382"/>
        </p:xfrm>
        <a:graphic>
          <a:graphicData uri="http://schemas.openxmlformats.org/drawingml/2006/table">
            <a:tbl>
              <a:tblPr firstRow="1" bandRow="1">
                <a:tableStyleId>{5C22544A-7EE6-4342-B048-85BDC9FD1C3A}</a:tableStyleId>
              </a:tblPr>
              <a:tblGrid>
                <a:gridCol w="832470">
                  <a:extLst>
                    <a:ext uri="{9D8B030D-6E8A-4147-A177-3AD203B41FA5}">
                      <a16:colId xmlns:a16="http://schemas.microsoft.com/office/drawing/2014/main" val="4170459796"/>
                    </a:ext>
                  </a:extLst>
                </a:gridCol>
                <a:gridCol w="1958969">
                  <a:extLst>
                    <a:ext uri="{9D8B030D-6E8A-4147-A177-3AD203B41FA5}">
                      <a16:colId xmlns:a16="http://schemas.microsoft.com/office/drawing/2014/main" val="3916178733"/>
                    </a:ext>
                  </a:extLst>
                </a:gridCol>
                <a:gridCol w="2190750">
                  <a:extLst>
                    <a:ext uri="{9D8B030D-6E8A-4147-A177-3AD203B41FA5}">
                      <a16:colId xmlns:a16="http://schemas.microsoft.com/office/drawing/2014/main" val="58186269"/>
                    </a:ext>
                  </a:extLst>
                </a:gridCol>
                <a:gridCol w="2428875">
                  <a:extLst>
                    <a:ext uri="{9D8B030D-6E8A-4147-A177-3AD203B41FA5}">
                      <a16:colId xmlns:a16="http://schemas.microsoft.com/office/drawing/2014/main" val="2393925304"/>
                    </a:ext>
                  </a:extLst>
                </a:gridCol>
                <a:gridCol w="2275860">
                  <a:extLst>
                    <a:ext uri="{9D8B030D-6E8A-4147-A177-3AD203B41FA5}">
                      <a16:colId xmlns:a16="http://schemas.microsoft.com/office/drawing/2014/main" val="2039028481"/>
                    </a:ext>
                  </a:extLst>
                </a:gridCol>
              </a:tblGrid>
              <a:tr h="516483">
                <a:tc>
                  <a:txBody>
                    <a:bodyPr/>
                    <a:lstStyle/>
                    <a:p>
                      <a:pPr algn="ctr"/>
                      <a:r>
                        <a:rPr lang="en-IN" sz="2000" dirty="0">
                          <a:latin typeface="Times New Roman" panose="02020603050405020304" pitchFamily="18" charset="0"/>
                          <a:cs typeface="Times New Roman" panose="02020603050405020304" pitchFamily="18" charset="0"/>
                        </a:rPr>
                        <a:t>Sr no</a:t>
                      </a:r>
                    </a:p>
                  </a:txBody>
                  <a:tcPr marL="91437" marR="91437" marT="45728" marB="45728"/>
                </a:tc>
                <a:tc>
                  <a:txBody>
                    <a:bodyPr/>
                    <a:lstStyle/>
                    <a:p>
                      <a:pPr algn="ctr"/>
                      <a:r>
                        <a:rPr lang="en-IN" sz="2000" dirty="0">
                          <a:latin typeface="Times New Roman" panose="02020603050405020304" pitchFamily="18" charset="0"/>
                          <a:cs typeface="Times New Roman" panose="02020603050405020304" pitchFamily="18" charset="0"/>
                        </a:rPr>
                        <a:t>Paper Title</a:t>
                      </a:r>
                    </a:p>
                  </a:txBody>
                  <a:tcPr marL="91437" marR="91437" marT="45728" marB="45728"/>
                </a:tc>
                <a:tc>
                  <a:txBody>
                    <a:bodyPr/>
                    <a:lstStyle/>
                    <a:p>
                      <a:pPr algn="ctr"/>
                      <a:r>
                        <a:rPr lang="en-IN" sz="2000" dirty="0">
                          <a:latin typeface="Times New Roman" panose="02020603050405020304" pitchFamily="18" charset="0"/>
                          <a:cs typeface="Times New Roman" panose="02020603050405020304" pitchFamily="18" charset="0"/>
                        </a:rPr>
                        <a:t>Author</a:t>
                      </a:r>
                    </a:p>
                  </a:txBody>
                  <a:tcPr marL="91437" marR="91437" marT="45728" marB="45728"/>
                </a:tc>
                <a:tc>
                  <a:txBody>
                    <a:bodyPr/>
                    <a:lstStyle/>
                    <a:p>
                      <a:pPr algn="ctr"/>
                      <a:r>
                        <a:rPr lang="en-IN" sz="2000" dirty="0">
                          <a:latin typeface="Times New Roman" panose="02020603050405020304" pitchFamily="18" charset="0"/>
                          <a:cs typeface="Times New Roman" panose="02020603050405020304" pitchFamily="18" charset="0"/>
                        </a:rPr>
                        <a:t>Summary</a:t>
                      </a:r>
                    </a:p>
                  </a:txBody>
                  <a:tcPr marL="91437" marR="91437" marT="45728" marB="45728"/>
                </a:tc>
                <a:tc>
                  <a:txBody>
                    <a:bodyPr/>
                    <a:lstStyle/>
                    <a:p>
                      <a:pPr algn="ctr"/>
                      <a:r>
                        <a:rPr lang="en-IN" sz="2000" dirty="0">
                          <a:latin typeface="Times New Roman" panose="02020603050405020304" pitchFamily="18" charset="0"/>
                          <a:cs typeface="Times New Roman" panose="02020603050405020304" pitchFamily="18" charset="0"/>
                        </a:rPr>
                        <a:t>Limitation</a:t>
                      </a:r>
                    </a:p>
                  </a:txBody>
                  <a:tcPr marL="91437" marR="91437" marT="45728" marB="45728"/>
                </a:tc>
                <a:extLst>
                  <a:ext uri="{0D108BD9-81ED-4DB2-BD59-A6C34878D82A}">
                    <a16:rowId xmlns:a16="http://schemas.microsoft.com/office/drawing/2014/main" val="2211594814"/>
                  </a:ext>
                </a:extLst>
              </a:tr>
              <a:tr h="1457214">
                <a:tc>
                  <a:txBody>
                    <a:bodyPr/>
                    <a:lstStyle/>
                    <a:p>
                      <a:pPr>
                        <a:buNone/>
                      </a:pPr>
                      <a:r>
                        <a:rPr lang="en-IN" sz="1500" dirty="0">
                          <a:latin typeface="Times New Roman" panose="02020603050405020304" pitchFamily="18" charset="0"/>
                          <a:cs typeface="Times New Roman" panose="02020603050405020304" pitchFamily="18" charset="0"/>
                        </a:rPr>
                        <a:t>   4.</a:t>
                      </a:r>
                    </a:p>
                  </a:txBody>
                  <a:tcPr anchor="ctr"/>
                </a:tc>
                <a:tc>
                  <a:txBody>
                    <a:bodyPr/>
                    <a:lstStyle/>
                    <a:p>
                      <a:pPr>
                        <a:buNone/>
                      </a:pPr>
                      <a:r>
                        <a:rPr lang="en-IN" sz="1500" dirty="0">
                          <a:latin typeface="Times New Roman" panose="02020603050405020304" pitchFamily="18" charset="0"/>
                          <a:cs typeface="Times New Roman" panose="02020603050405020304" pitchFamily="18" charset="0"/>
                        </a:rPr>
                        <a:t>Professional Chat Application based on NLP (2024)</a:t>
                      </a:r>
                    </a:p>
                  </a:txBody>
                  <a:tcPr anchor="ctr"/>
                </a:tc>
                <a:tc>
                  <a:txBody>
                    <a:bodyPr/>
                    <a:lstStyle/>
                    <a:p>
                      <a:pPr>
                        <a:buNone/>
                      </a:pPr>
                      <a:r>
                        <a:rPr lang="en-IN" sz="1500" dirty="0">
                          <a:latin typeface="Times New Roman" panose="02020603050405020304" pitchFamily="18" charset="0"/>
                          <a:cs typeface="Times New Roman" panose="02020603050405020304" pitchFamily="18" charset="0"/>
                        </a:rPr>
                        <a:t>S. Karthick, R. J. Victor, S. Manikandan, Bhargavi Goswami</a:t>
                      </a:r>
                    </a:p>
                  </a:txBody>
                  <a:tcPr anchor="ctr"/>
                </a:tc>
                <a:tc>
                  <a:txBody>
                    <a:bodyPr/>
                    <a:lstStyle/>
                    <a:p>
                      <a:pPr>
                        <a:buNone/>
                      </a:pPr>
                      <a:r>
                        <a:rPr lang="en-US" sz="1500" dirty="0">
                          <a:latin typeface="Times New Roman" panose="02020603050405020304" pitchFamily="18" charset="0"/>
                          <a:cs typeface="Times New Roman" panose="02020603050405020304" pitchFamily="18" charset="0"/>
                        </a:rPr>
                        <a:t>NLP app improves workplace chat, cuts inappropriate content by ~78%.</a:t>
                      </a:r>
                    </a:p>
                  </a:txBody>
                  <a:tcPr anchor="ctr"/>
                </a:tc>
                <a:tc>
                  <a:txBody>
                    <a:bodyPr/>
                    <a:lstStyle/>
                    <a:p>
                      <a:pPr>
                        <a:buNone/>
                      </a:pPr>
                      <a:r>
                        <a:rPr lang="en-US" sz="1500" dirty="0">
                          <a:latin typeface="Times New Roman" panose="02020603050405020304" pitchFamily="18" charset="0"/>
                          <a:cs typeface="Times New Roman" panose="02020603050405020304" pitchFamily="18" charset="0"/>
                        </a:rPr>
                        <a:t>Dictionary-based, needs manual updates, context errors, may filter too much.</a:t>
                      </a:r>
                    </a:p>
                  </a:txBody>
                  <a:tcPr anchor="ctr"/>
                </a:tc>
                <a:extLst>
                  <a:ext uri="{0D108BD9-81ED-4DB2-BD59-A6C34878D82A}">
                    <a16:rowId xmlns:a16="http://schemas.microsoft.com/office/drawing/2014/main" val="1371208437"/>
                  </a:ext>
                </a:extLst>
              </a:tr>
              <a:tr h="1809000">
                <a:tc>
                  <a:txBody>
                    <a:bodyPr/>
                    <a:lstStyle/>
                    <a:p>
                      <a:pPr>
                        <a:buNone/>
                      </a:pPr>
                      <a:r>
                        <a:rPr lang="en-IN" sz="1500" dirty="0">
                          <a:latin typeface="Times New Roman" panose="02020603050405020304" pitchFamily="18" charset="0"/>
                          <a:cs typeface="Times New Roman" panose="02020603050405020304" pitchFamily="18" charset="0"/>
                        </a:rPr>
                        <a:t>   5.</a:t>
                      </a:r>
                    </a:p>
                  </a:txBody>
                  <a:tcPr anchor="ctr"/>
                </a:tc>
                <a:tc>
                  <a:txBody>
                    <a:bodyPr/>
                    <a:lstStyle/>
                    <a:p>
                      <a:pPr>
                        <a:spcBef>
                          <a:spcPts val="315"/>
                        </a:spcBef>
                        <a:buNone/>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3500" marR="116205">
                        <a:lnSpc>
                          <a:spcPct val="100000"/>
                        </a:lnSpc>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Automated</a:t>
                      </a:r>
                      <a:r>
                        <a:rPr lang="en-US" sz="15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Toxic Chat Synthesis, Reporting and Removing the Chat</a:t>
                      </a:r>
                      <a:r>
                        <a:rPr lang="en-US" sz="15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15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Telegram Social Media Using NLP </a:t>
                      </a:r>
                      <a:r>
                        <a:rPr lang="en-US" sz="1500" spc="-1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spcBef>
                          <a:spcPts val="315"/>
                        </a:spcBef>
                        <a:buNone/>
                      </a:pPr>
                      <a:r>
                        <a:rPr lang="en-US" sz="1500" b="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500" b="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3500">
                        <a:buNone/>
                      </a:pPr>
                      <a:r>
                        <a:rPr lang="en-US" sz="1500" b="0" dirty="0">
                          <a:effectLst/>
                          <a:latin typeface="Times New Roman" panose="02020603050405020304" pitchFamily="18" charset="0"/>
                          <a:ea typeface="Times New Roman" panose="02020603050405020304" pitchFamily="18" charset="0"/>
                          <a:cs typeface="Times New Roman" panose="02020603050405020304" pitchFamily="18" charset="0"/>
                        </a:rPr>
                        <a:t>A</a:t>
                      </a:r>
                      <a:r>
                        <a:rPr lang="en-US" sz="1500" b="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b="0" dirty="0">
                          <a:effectLst/>
                          <a:latin typeface="Times New Roman" panose="02020603050405020304" pitchFamily="18" charset="0"/>
                          <a:ea typeface="Times New Roman" panose="02020603050405020304" pitchFamily="18" charset="0"/>
                          <a:cs typeface="Times New Roman" panose="02020603050405020304" pitchFamily="18" charset="0"/>
                        </a:rPr>
                        <a:t>B and P. </a:t>
                      </a:r>
                      <a:r>
                        <a:rPr lang="en-US" sz="1500" b="0" spc="-10" dirty="0">
                          <a:effectLst/>
                          <a:latin typeface="Times New Roman" panose="02020603050405020304" pitchFamily="18" charset="0"/>
                          <a:ea typeface="Times New Roman" panose="02020603050405020304" pitchFamily="18" charset="0"/>
                          <a:cs typeface="Times New Roman" panose="02020603050405020304" pitchFamily="18" charset="0"/>
                        </a:rPr>
                        <a:t>Prithvi</a:t>
                      </a:r>
                      <a:endParaRPr lang="en-IN" sz="15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buNone/>
                      </a:pPr>
                      <a:r>
                        <a:rPr lang="en-US" sz="1500" b="0" kern="1200" dirty="0">
                          <a:solidFill>
                            <a:schemeClr val="dk1"/>
                          </a:solidFill>
                          <a:effectLst/>
                          <a:latin typeface="Times New Roman" panose="02020603050405020304" pitchFamily="18" charset="0"/>
                          <a:ea typeface="+mn-ea"/>
                          <a:cs typeface="Times New Roman" panose="02020603050405020304" pitchFamily="18" charset="0"/>
                        </a:rPr>
                        <a:t>Addresses toxicity in Telegram chats using NLP. Classifies toxic content and automates reporting &amp; removal using ML models like Logistic Regression, KNN, Random Forest, Naive Bayes, BERT.</a:t>
                      </a:r>
                      <a:endParaRPr lang="en-US" sz="1500" b="0" dirty="0">
                        <a:effectLst/>
                        <a:latin typeface="Times New Roman" panose="02020603050405020304" pitchFamily="18" charset="0"/>
                        <a:cs typeface="Times New Roman" panose="02020603050405020304" pitchFamily="18" charset="0"/>
                      </a:endParaRPr>
                    </a:p>
                  </a:txBody>
                  <a:tcPr anchor="ctr"/>
                </a:tc>
                <a:tc>
                  <a:txBody>
                    <a:bodyPr/>
                    <a:lstStyle/>
                    <a:p>
                      <a:pPr algn="just"/>
                      <a:r>
                        <a:rPr lang="en-US" sz="1500" dirty="0">
                          <a:latin typeface="Times New Roman" panose="02020603050405020304" pitchFamily="18" charset="0"/>
                          <a:cs typeface="Times New Roman" panose="02020603050405020304" pitchFamily="18" charset="0"/>
                        </a:rPr>
                        <a:t>No real-time analysis, delayed response, unable to detect subtle risks in live environment.</a:t>
                      </a:r>
                      <a:endParaRPr lang="en-IN" sz="15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15737993"/>
                  </a:ext>
                </a:extLst>
              </a:tr>
              <a:tr h="1972445">
                <a:tc>
                  <a:txBody>
                    <a:bodyPr/>
                    <a:lstStyle/>
                    <a:p>
                      <a:pPr>
                        <a:buNone/>
                      </a:pPr>
                      <a:r>
                        <a:rPr lang="en-IN" sz="1500" dirty="0">
                          <a:latin typeface="Times New Roman" panose="02020603050405020304" pitchFamily="18" charset="0"/>
                          <a:cs typeface="Times New Roman" panose="02020603050405020304" pitchFamily="18" charset="0"/>
                        </a:rPr>
                        <a:t>   6.</a:t>
                      </a:r>
                    </a:p>
                  </a:txBody>
                  <a:tcPr anchor="ctr"/>
                </a:tc>
                <a:tc>
                  <a:txBody>
                    <a:bodyPr/>
                    <a:lstStyle/>
                    <a:p>
                      <a:pPr>
                        <a:lnSpc>
                          <a:spcPct val="100000"/>
                        </a:lnSpc>
                        <a:spcBef>
                          <a:spcPts val="315"/>
                        </a:spcBef>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3500" marR="252095">
                        <a:lnSpc>
                          <a:spcPct val="100000"/>
                        </a:lnSpc>
                        <a:spcBef>
                          <a:spcPts val="5"/>
                        </a:spcBef>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Toxicity</a:t>
                      </a:r>
                      <a:r>
                        <a:rPr lang="en-US" sz="1500" spc="-7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Tweet Detection and </a:t>
                      </a:r>
                      <a:r>
                        <a:rPr lang="en-US" sz="1500" spc="-10" dirty="0">
                          <a:effectLst/>
                          <a:latin typeface="Times New Roman" panose="02020603050405020304" pitchFamily="18" charset="0"/>
                          <a:ea typeface="Times New Roman" panose="02020603050405020304" pitchFamily="18" charset="0"/>
                          <a:cs typeface="Times New Roman" panose="02020603050405020304" pitchFamily="18" charset="0"/>
                        </a:rPr>
                        <a:t>Classification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Using NLP </a:t>
                      </a:r>
                      <a:r>
                        <a:rPr lang="en-US" sz="1500" spc="-10" dirty="0">
                          <a:effectLst/>
                          <a:latin typeface="Times New Roman" panose="02020603050405020304" pitchFamily="18" charset="0"/>
                          <a:ea typeface="Times New Roman" panose="02020603050405020304" pitchFamily="18" charset="0"/>
                          <a:cs typeface="Times New Roman" panose="02020603050405020304" pitchFamily="18" charset="0"/>
                        </a:rPr>
                        <a:t>Driven Techniques</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spcBef>
                          <a:spcPts val="315"/>
                        </a:spcBef>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3500">
                        <a:lnSpc>
                          <a:spcPct val="100000"/>
                        </a:lnSpc>
                        <a:spcBef>
                          <a:spcPts val="5"/>
                        </a:spcBef>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K.</a:t>
                      </a:r>
                      <a:r>
                        <a:rPr lang="en-US" sz="15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Pal and S. </a:t>
                      </a:r>
                      <a:r>
                        <a:rPr lang="en-US" sz="1500" spc="-25" dirty="0">
                          <a:effectLst/>
                          <a:latin typeface="Times New Roman" panose="02020603050405020304" pitchFamily="18" charset="0"/>
                          <a:ea typeface="Times New Roman" panose="02020603050405020304" pitchFamily="18" charset="0"/>
                          <a:cs typeface="Times New Roman" panose="02020603050405020304" pitchFamily="18" charset="0"/>
                        </a:rPr>
                        <a:t>Rai</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nSpc>
                          <a:spcPct val="100000"/>
                        </a:lnSpc>
                        <a:spcBef>
                          <a:spcPts val="315"/>
                        </a:spcBef>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4135">
                        <a:lnSpc>
                          <a:spcPct val="100000"/>
                        </a:lnSpc>
                        <a:spcBef>
                          <a:spcPts val="5"/>
                        </a:spcBef>
                        <a:buNone/>
                      </a:pP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Detects and classifies tweet toxicity using NLP with ML and</a:t>
                      </a:r>
                      <a:r>
                        <a:rPr lang="en-US" sz="15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deep</a:t>
                      </a:r>
                      <a:r>
                        <a:rPr lang="en-US" sz="15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learning</a:t>
                      </a:r>
                      <a:r>
                        <a:rPr lang="en-US" sz="15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models</a:t>
                      </a:r>
                      <a:r>
                        <a:rPr lang="en-US" sz="15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like LSTM achieving 90.7% accuracy and F1-score 0.94.</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buNone/>
                      </a:pPr>
                      <a:r>
                        <a:rPr lang="en-US" sz="1500" dirty="0">
                          <a:latin typeface="Times New Roman" panose="02020603050405020304" pitchFamily="18" charset="0"/>
                          <a:cs typeface="Times New Roman" panose="02020603050405020304" pitchFamily="18" charset="0"/>
                        </a:rPr>
                        <a:t>delayed response, unable to detect subtle risks.</a:t>
                      </a:r>
                    </a:p>
                  </a:txBody>
                  <a:tcPr anchor="ctr"/>
                </a:tc>
                <a:extLst>
                  <a:ext uri="{0D108BD9-81ED-4DB2-BD59-A6C34878D82A}">
                    <a16:rowId xmlns:a16="http://schemas.microsoft.com/office/drawing/2014/main" val="1254285801"/>
                  </a:ext>
                </a:extLst>
              </a:tr>
            </a:tbl>
          </a:graphicData>
        </a:graphic>
      </p:graphicFrame>
    </p:spTree>
    <p:extLst>
      <p:ext uri="{BB962C8B-B14F-4D97-AF65-F5344CB8AC3E}">
        <p14:creationId xmlns:p14="http://schemas.microsoft.com/office/powerpoint/2010/main" val="3820133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70" dirty="0">
                <a:solidFill>
                  <a:schemeClr val="tx1"/>
                </a:solidFill>
                <a:latin typeface="Times New Roman" panose="02020603050405020304" pitchFamily="18" charset="0"/>
                <a:cs typeface="Times New Roman" panose="02020603050405020304" pitchFamily="18" charset="0"/>
              </a:rPr>
              <a:t>Limitations in Existing Systems:</a:t>
            </a:r>
            <a:endParaRPr sz="327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2768" y="1333500"/>
            <a:ext cx="9697748" cy="5024438"/>
          </a:xfrm>
        </p:spPr>
        <p:txBody>
          <a:bodyPr>
            <a:noAutofit/>
          </a:bodyPr>
          <a:lstStyle/>
          <a:p>
            <a:pPr marL="0" indent="0" algn="just">
              <a:buNone/>
            </a:pPr>
            <a:r>
              <a:rPr lang="en-US" sz="1600" b="1" dirty="0">
                <a:solidFill>
                  <a:schemeClr val="tx1"/>
                </a:solidFill>
                <a:latin typeface="Times New Roman" panose="02020603050405020304" pitchFamily="18" charset="0"/>
                <a:cs typeface="Times New Roman" panose="02020603050405020304" pitchFamily="18" charset="0"/>
              </a:rPr>
              <a:t>Report dependent: </a:t>
            </a:r>
            <a:r>
              <a:rPr lang="en-US" sz="1600" dirty="0">
                <a:solidFill>
                  <a:schemeClr val="tx1"/>
                </a:solidFill>
                <a:latin typeface="Times New Roman" panose="02020603050405020304" pitchFamily="18" charset="0"/>
                <a:cs typeface="Times New Roman" panose="02020603050405020304" pitchFamily="18" charset="0"/>
              </a:rPr>
              <a:t>Existing systems are largely reactive, depending on user reports. They lack real-time, proactive filtering and struggle to understand the context and nuance of human language (e.g., sarcasm).</a:t>
            </a:r>
          </a:p>
          <a:p>
            <a:pPr marL="0" indent="0" algn="just">
              <a:buNone/>
            </a:pPr>
            <a:r>
              <a:rPr lang="en-US" sz="1600" b="1" dirty="0">
                <a:solidFill>
                  <a:schemeClr val="tx1"/>
                </a:solidFill>
                <a:latin typeface="Times New Roman" panose="02020603050405020304" pitchFamily="18" charset="0"/>
                <a:cs typeface="Times New Roman" panose="02020603050405020304" pitchFamily="18" charset="0"/>
              </a:rPr>
              <a:t>Problem Complexity: </a:t>
            </a:r>
            <a:r>
              <a:rPr lang="en-US" sz="1600" dirty="0">
                <a:solidFill>
                  <a:schemeClr val="tx1"/>
                </a:solidFill>
                <a:latin typeface="Times New Roman" panose="02020603050405020304" pitchFamily="18" charset="0"/>
                <a:cs typeface="Times New Roman" panose="02020603050405020304" pitchFamily="18" charset="0"/>
              </a:rPr>
              <a:t>The issue of online toxicity is far from being completely solved. The dynamic and evolving nature of language means simple keyword-based solutions are perpetually outdated and ineffective.</a:t>
            </a:r>
          </a:p>
          <a:p>
            <a:pPr marL="0" indent="0" algn="just">
              <a:buNone/>
            </a:pPr>
            <a:r>
              <a:rPr lang="en-US" sz="1600" b="1" dirty="0">
                <a:solidFill>
                  <a:schemeClr val="tx1"/>
                </a:solidFill>
                <a:latin typeface="Times New Roman" panose="02020603050405020304" pitchFamily="18" charset="0"/>
                <a:cs typeface="Times New Roman" panose="02020603050405020304" pitchFamily="18" charset="0"/>
              </a:rPr>
              <a:t>Improvement Possibilities: </a:t>
            </a:r>
            <a:r>
              <a:rPr lang="en-US" sz="1600" dirty="0">
                <a:solidFill>
                  <a:schemeClr val="tx1"/>
                </a:solidFill>
                <a:latin typeface="Times New Roman" panose="02020603050405020304" pitchFamily="18" charset="0"/>
                <a:cs typeface="Times New Roman" panose="02020603050405020304" pitchFamily="18" charset="0"/>
              </a:rPr>
              <a:t>A significant opportunity exists for a system that not only blocks harmful content but also offers corrective actions, such as replacing slang with professional language to improve communication clarity.</a:t>
            </a:r>
          </a:p>
          <a:p>
            <a:pPr marL="0" indent="0" algn="just">
              <a:buNone/>
            </a:pPr>
            <a:r>
              <a:rPr lang="en-US" sz="1600" b="1" dirty="0">
                <a:solidFill>
                  <a:schemeClr val="tx1"/>
                </a:solidFill>
                <a:latin typeface="Times New Roman" panose="02020603050405020304" pitchFamily="18" charset="0"/>
                <a:cs typeface="Times New Roman" panose="02020603050405020304" pitchFamily="18" charset="0"/>
              </a:rPr>
              <a:t>Performing Methodologies: </a:t>
            </a:r>
            <a:r>
              <a:rPr lang="en-US" sz="1600" dirty="0">
                <a:solidFill>
                  <a:schemeClr val="tx1"/>
                </a:solidFill>
                <a:latin typeface="Times New Roman" panose="02020603050405020304" pitchFamily="18" charset="0"/>
                <a:cs typeface="Times New Roman" panose="02020603050405020304" pitchFamily="18" charset="0"/>
              </a:rPr>
              <a:t>While complex deep learning models offer high accuracy, our analysis suggests that efficient machine learning models like Logistic Regression, combined with a robust NLP pipeline (e.g., TF-IDF), provide a better balance of speed and accuracy for real-time chat applications.</a:t>
            </a:r>
          </a:p>
          <a:p>
            <a:pPr marL="0" indent="0" algn="just">
              <a:buNone/>
            </a:pPr>
            <a:r>
              <a:rPr lang="en-US" sz="1600" b="1" dirty="0">
                <a:solidFill>
                  <a:schemeClr val="tx1"/>
                </a:solidFill>
                <a:latin typeface="Times New Roman" panose="02020603050405020304" pitchFamily="18" charset="0"/>
                <a:cs typeface="Times New Roman" panose="02020603050405020304" pitchFamily="18" charset="0"/>
              </a:rPr>
              <a:t>Justification for Contribution: </a:t>
            </a:r>
            <a:r>
              <a:rPr lang="en-US" sz="1600" dirty="0">
                <a:solidFill>
                  <a:schemeClr val="tx1"/>
                </a:solidFill>
                <a:latin typeface="Times New Roman" panose="02020603050405020304" pitchFamily="18" charset="0"/>
                <a:cs typeface="Times New Roman" panose="02020603050405020304" pitchFamily="18" charset="0"/>
              </a:rPr>
              <a:t>We are confident in addressing these limitations. By creating a proactive moderation system that is both fast and intelligent, this project offers a tangible contribution to solving the problem of online toxicity and fostering safer digital environments. This justification provides the foundation for our proposed system.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C8B27-0F19-BFCC-3BA9-3385AF952738}"/>
              </a:ext>
            </a:extLst>
          </p:cNvPr>
          <p:cNvSpPr>
            <a:spLocks noGrp="1"/>
          </p:cNvSpPr>
          <p:nvPr>
            <p:ph type="ctrTitle"/>
          </p:nvPr>
        </p:nvSpPr>
        <p:spPr>
          <a:xfrm>
            <a:off x="1763664" y="488679"/>
            <a:ext cx="6179681" cy="835741"/>
          </a:xfrm>
        </p:spPr>
        <p:txBody>
          <a:bodyPr/>
          <a:lstStyle/>
          <a:p>
            <a:pPr algn="l"/>
            <a:r>
              <a:rPr lang="en-IN" sz="3270" dirty="0">
                <a:solidFill>
                  <a:schemeClr val="tx1"/>
                </a:solidFill>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045F0C0D-6AD6-0A95-B35D-370B3C36B5DD}"/>
              </a:ext>
            </a:extLst>
          </p:cNvPr>
          <p:cNvSpPr>
            <a:spLocks noGrp="1"/>
          </p:cNvSpPr>
          <p:nvPr>
            <p:ph type="subTitle" idx="1"/>
          </p:nvPr>
        </p:nvSpPr>
        <p:spPr>
          <a:xfrm>
            <a:off x="1763664" y="1737504"/>
            <a:ext cx="8334065" cy="4736592"/>
          </a:xfrm>
        </p:spPr>
        <p:txBody>
          <a:bodyPr>
            <a:noAutofit/>
          </a:bodyPr>
          <a:lstStyle/>
          <a:p>
            <a:pPr algn="just"/>
            <a:r>
              <a:rPr lang="en-US" dirty="0">
                <a:solidFill>
                  <a:schemeClr val="tx1"/>
                </a:solidFill>
                <a:latin typeface="Times New Roman" panose="02020603050405020304" pitchFamily="18" charset="0"/>
                <a:cs typeface="Times New Roman" panose="02020603050405020304" pitchFamily="18" charset="0"/>
              </a:rPr>
              <a:t>Chat applications are widely used for personal, educational, and professional communication. However, most platforms struggle to manage inappropriate content effectively. Current moderation methods, like </a:t>
            </a:r>
            <a:r>
              <a:rPr lang="en-US" b="1" dirty="0">
                <a:solidFill>
                  <a:schemeClr val="tx1"/>
                </a:solidFill>
                <a:latin typeface="Times New Roman" panose="02020603050405020304" pitchFamily="18" charset="0"/>
                <a:cs typeface="Times New Roman" panose="02020603050405020304" pitchFamily="18" charset="0"/>
              </a:rPr>
              <a:t>manual review or basic keyword filters,</a:t>
            </a:r>
            <a:r>
              <a:rPr lang="en-US" dirty="0">
                <a:solidFill>
                  <a:schemeClr val="tx1"/>
                </a:solidFill>
                <a:latin typeface="Times New Roman" panose="02020603050405020304" pitchFamily="18" charset="0"/>
                <a:cs typeface="Times New Roman" panose="02020603050405020304" pitchFamily="18" charset="0"/>
              </a:rPr>
              <a:t> are outdated and insufficient. This leads to disrupted communication, </a:t>
            </a:r>
            <a:r>
              <a:rPr lang="en-US" b="1" dirty="0">
                <a:solidFill>
                  <a:schemeClr val="tx1"/>
                </a:solidFill>
                <a:latin typeface="Times New Roman" panose="02020603050405020304" pitchFamily="18" charset="0"/>
                <a:cs typeface="Times New Roman" panose="02020603050405020304" pitchFamily="18" charset="0"/>
              </a:rPr>
              <a:t>user dissatisfaction, and potential legal risks</a:t>
            </a:r>
            <a:r>
              <a:rPr lang="en-US" dirty="0">
                <a:solidFill>
                  <a:schemeClr val="tx1"/>
                </a:solidFill>
                <a:latin typeface="Times New Roman" panose="02020603050405020304" pitchFamily="18" charset="0"/>
                <a:cs typeface="Times New Roman" panose="02020603050405020304" pitchFamily="18" charset="0"/>
              </a:rPr>
              <a:t>. There is a clear need for </a:t>
            </a:r>
            <a:r>
              <a:rPr lang="en-US" b="1" dirty="0">
                <a:solidFill>
                  <a:schemeClr val="tx1"/>
                </a:solidFill>
                <a:latin typeface="Times New Roman" panose="02020603050405020304" pitchFamily="18" charset="0"/>
                <a:cs typeface="Times New Roman" panose="02020603050405020304" pitchFamily="18" charset="0"/>
              </a:rPr>
              <a:t>smarter, scalable, </a:t>
            </a:r>
            <a:r>
              <a:rPr lang="en-US" dirty="0">
                <a:solidFill>
                  <a:schemeClr val="tx1"/>
                </a:solidFill>
                <a:latin typeface="Times New Roman" panose="02020603050405020304" pitchFamily="18" charset="0"/>
                <a:cs typeface="Times New Roman" panose="02020603050405020304" pitchFamily="18" charset="0"/>
              </a:rPr>
              <a:t>and </a:t>
            </a:r>
            <a:r>
              <a:rPr lang="en-US" b="1" dirty="0">
                <a:solidFill>
                  <a:schemeClr val="tx1"/>
                </a:solidFill>
                <a:latin typeface="Times New Roman" panose="02020603050405020304" pitchFamily="18" charset="0"/>
                <a:cs typeface="Times New Roman" panose="02020603050405020304" pitchFamily="18" charset="0"/>
              </a:rPr>
              <a:t>context-aware</a:t>
            </a:r>
            <a:r>
              <a:rPr lang="en-US" dirty="0">
                <a:solidFill>
                  <a:schemeClr val="tx1"/>
                </a:solidFill>
                <a:latin typeface="Times New Roman" panose="02020603050405020304" pitchFamily="18" charset="0"/>
                <a:cs typeface="Times New Roman" panose="02020603050405020304" pitchFamily="18" charset="0"/>
              </a:rPr>
              <a:t> moderation systems.</a:t>
            </a:r>
          </a:p>
        </p:txBody>
      </p:sp>
    </p:spTree>
    <p:extLst>
      <p:ext uri="{BB962C8B-B14F-4D97-AF65-F5344CB8AC3E}">
        <p14:creationId xmlns:p14="http://schemas.microsoft.com/office/powerpoint/2010/main" val="3827661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A1216-16CD-F44D-37C7-54909C5596C5}"/>
              </a:ext>
            </a:extLst>
          </p:cNvPr>
          <p:cNvSpPr>
            <a:spLocks noGrp="1"/>
          </p:cNvSpPr>
          <p:nvPr>
            <p:ph type="title"/>
          </p:nvPr>
        </p:nvSpPr>
        <p:spPr>
          <a:xfrm>
            <a:off x="677334" y="609600"/>
            <a:ext cx="8596668" cy="658761"/>
          </a:xfrm>
        </p:spPr>
        <p:txBody>
          <a:bodyPr/>
          <a:lstStyle/>
          <a:p>
            <a:r>
              <a:rPr lang="en-IN" altLang="en-US" b="1" dirty="0">
                <a:solidFill>
                  <a:srgbClr val="000000"/>
                </a:solidFill>
                <a:latin typeface="Times New Roman" panose="02020603050405020304" pitchFamily="18" charset="0"/>
                <a:cs typeface="DejaVu Sans" charset="0"/>
              </a:rPr>
              <a:t>System Design </a:t>
            </a:r>
            <a:endParaRPr lang="en-IN" dirty="0"/>
          </a:p>
        </p:txBody>
      </p:sp>
      <p:pic>
        <p:nvPicPr>
          <p:cNvPr id="4" name="Content Placeholder 3">
            <a:extLst>
              <a:ext uri="{FF2B5EF4-FFF2-40B4-BE49-F238E27FC236}">
                <a16:creationId xmlns:a16="http://schemas.microsoft.com/office/drawing/2014/main" id="{80797EFC-13D1-E219-DE0D-E8D314CC032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 b="11325"/>
          <a:stretch>
            <a:fillRect/>
          </a:stretch>
        </p:blipFill>
        <p:spPr bwMode="auto">
          <a:xfrm>
            <a:off x="235973" y="1396181"/>
            <a:ext cx="8967020" cy="5461819"/>
          </a:xfrm>
          <a:prstGeom prst="rect">
            <a:avLst/>
          </a:prstGeom>
          <a:noFill/>
          <a:ln>
            <a:noFill/>
          </a:ln>
        </p:spPr>
      </p:pic>
    </p:spTree>
    <p:extLst>
      <p:ext uri="{BB962C8B-B14F-4D97-AF65-F5344CB8AC3E}">
        <p14:creationId xmlns:p14="http://schemas.microsoft.com/office/powerpoint/2010/main" val="541430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B6FBC-B2F1-6F14-B734-2B648C1D0380}"/>
              </a:ext>
            </a:extLst>
          </p:cNvPr>
          <p:cNvSpPr>
            <a:spLocks noGrp="1"/>
          </p:cNvSpPr>
          <p:nvPr>
            <p:ph type="title"/>
          </p:nvPr>
        </p:nvSpPr>
        <p:spPr>
          <a:xfrm>
            <a:off x="1143001" y="359231"/>
            <a:ext cx="6347713" cy="862471"/>
          </a:xfrm>
        </p:spPr>
        <p:txBody>
          <a:bodyPr>
            <a:normAutofit/>
          </a:bodyPr>
          <a:lstStyle/>
          <a:p>
            <a:r>
              <a:rPr lang="en-IN" altLang="en-US" sz="3270" b="1" dirty="0">
                <a:solidFill>
                  <a:srgbClr val="000000"/>
                </a:solidFill>
                <a:latin typeface="Times New Roman" panose="02020603050405020304" pitchFamily="18" charset="0"/>
                <a:cs typeface="DejaVu Sans" charset="0"/>
              </a:rPr>
              <a:t>Technologies and methodologies </a:t>
            </a:r>
            <a:endParaRPr lang="en-IN" sz="3270" dirty="0"/>
          </a:p>
        </p:txBody>
      </p:sp>
      <p:sp>
        <p:nvSpPr>
          <p:cNvPr id="4" name="Rectangle 1">
            <a:extLst>
              <a:ext uri="{FF2B5EF4-FFF2-40B4-BE49-F238E27FC236}">
                <a16:creationId xmlns:a16="http://schemas.microsoft.com/office/drawing/2014/main" id="{CF1C4177-D634-0E8F-0F49-FFE687013188}"/>
              </a:ext>
            </a:extLst>
          </p:cNvPr>
          <p:cNvSpPr>
            <a:spLocks noGrp="1" noChangeArrowheads="1"/>
          </p:cNvSpPr>
          <p:nvPr>
            <p:ph idx="1"/>
          </p:nvPr>
        </p:nvSpPr>
        <p:spPr bwMode="auto">
          <a:xfrm>
            <a:off x="1143001" y="1287244"/>
            <a:ext cx="79248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pPr marL="0" indent="0" defTabSz="914400" eaLnBrk="0" fontAlgn="base" hangingPunct="0">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(React)</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authentication, chat interface, file upload UI.</a:t>
            </a: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Connects with backend services using WebSocket and REST APIs.</a:t>
            </a:r>
          </a:p>
          <a:p>
            <a:pPr marL="0" indent="0" defTabSz="914400" eaLnBrk="0" fontAlgn="base" hangingPunct="0">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(Node.js)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Validates credentials securely.Uses JWT-based session handling.</a:t>
            </a: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Stores/retrieves user credentials in the central database.</a:t>
            </a:r>
          </a:p>
          <a:p>
            <a:pPr marL="0" indent="0" defTabSz="914400" eaLnBrk="0" fontAlgn="base" hangingPunct="0">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Messaging (WebSocket - Node.js)</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Enables instant two-way communication between users.</a:t>
            </a: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Routes each message through NLP services before delivery.</a:t>
            </a:r>
          </a:p>
          <a:p>
            <a:pPr marL="0" indent="0" defTabSz="914400" eaLnBrk="0" fontAlgn="base" hangingPunct="0">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Hate Speech Detection &amp; Word Replacement (Flask + NLP)</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 Tokenization, stopword removal.</a:t>
            </a:r>
          </a:p>
          <a:p>
            <a:pPr defTabSz="914400" eaLnBrk="0" fontAlgn="base" hangingPunct="0">
              <a:spcBef>
                <a:spcPct val="0"/>
              </a:spcBef>
              <a:spcAft>
                <a:spcPct val="0"/>
              </a:spcAft>
              <a:buClrTx/>
              <a:buSzTx/>
              <a:buFont typeface="Arial" panose="020B0604020202020204" pitchFamily="34" charset="0"/>
              <a:buChar char="•"/>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Hate Speech Detection: Sentiment analysis + toxicity classification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indent="0" defTabSz="914400" eaLnBrk="0" fontAlgn="base" hangingPunct="0">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Upload &amp; Storage (Cloudinary)</a:t>
            </a: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Files are uploaded via Cloudinary API endpoint.</a:t>
            </a: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Public URL is generated and stored in the central database. </a:t>
            </a: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fast retrieval and sharing in chat.</a:t>
            </a:r>
          </a:p>
          <a:p>
            <a:pPr marL="0" indent="0" defTabSz="914400" eaLnBrk="0" fontAlgn="base" hangingPunct="0">
              <a:spcBef>
                <a:spcPct val="0"/>
              </a:spcBef>
              <a:spcAft>
                <a:spcPct val="0"/>
              </a:spcAft>
              <a:buClrTx/>
              <a:buSzTx/>
              <a:buNone/>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Database(MongoDB)</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defTabSz="914400" eaLnBrk="0" fontAlgn="base" hangingPunct="0">
              <a:spcBef>
                <a:spcPct val="0"/>
              </a:spcBef>
              <a:spcAft>
                <a:spcPct val="0"/>
              </a:spcAft>
              <a:buClrTx/>
              <a:buSzTx/>
              <a:buFont typeface="Arial" panose="020B0604020202020204" pitchFamily="34" charset="0"/>
              <a:buChar char="•"/>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Maintains user profiles, credentials, chat history, file metadata. Ensures consistency across authentication, messaging, and file storage.</a:t>
            </a:r>
          </a:p>
        </p:txBody>
      </p:sp>
    </p:spTree>
    <p:extLst>
      <p:ext uri="{BB962C8B-B14F-4D97-AF65-F5344CB8AC3E}">
        <p14:creationId xmlns:p14="http://schemas.microsoft.com/office/powerpoint/2010/main" val="152249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99FEE-BEB8-013A-2C68-10F06A5941AD}"/>
              </a:ext>
            </a:extLst>
          </p:cNvPr>
          <p:cNvSpPr>
            <a:spLocks noGrp="1"/>
          </p:cNvSpPr>
          <p:nvPr>
            <p:ph type="ctrTitle"/>
          </p:nvPr>
        </p:nvSpPr>
        <p:spPr>
          <a:xfrm>
            <a:off x="1746674" y="647700"/>
            <a:ext cx="5826719" cy="737784"/>
          </a:xfrm>
        </p:spPr>
        <p:txBody>
          <a:bodyPr/>
          <a:lstStyle/>
          <a:p>
            <a:pPr algn="l"/>
            <a:r>
              <a:rPr lang="en-IN" sz="3270" b="1" dirty="0">
                <a:solidFill>
                  <a:schemeClr val="tx1"/>
                </a:solidFill>
                <a:latin typeface="Times New Roman" panose="02020603050405020304" pitchFamily="18" charset="0"/>
                <a:cs typeface="Times New Roman" panose="02020603050405020304" pitchFamily="18" charset="0"/>
              </a:rPr>
              <a:t>Deep Learning Models:</a:t>
            </a:r>
          </a:p>
        </p:txBody>
      </p:sp>
      <p:sp>
        <p:nvSpPr>
          <p:cNvPr id="3" name="Subtitle 2">
            <a:extLst>
              <a:ext uri="{FF2B5EF4-FFF2-40B4-BE49-F238E27FC236}">
                <a16:creationId xmlns:a16="http://schemas.microsoft.com/office/drawing/2014/main" id="{299C7B52-6134-05B7-B500-C13B3A08C96D}"/>
              </a:ext>
            </a:extLst>
          </p:cNvPr>
          <p:cNvSpPr>
            <a:spLocks noGrp="1"/>
          </p:cNvSpPr>
          <p:nvPr>
            <p:ph type="subTitle" idx="1"/>
          </p:nvPr>
        </p:nvSpPr>
        <p:spPr>
          <a:xfrm>
            <a:off x="1746674" y="1856233"/>
            <a:ext cx="6714956" cy="4059936"/>
          </a:xfrm>
        </p:spPr>
        <p:txBody>
          <a:bodyPr>
            <a:normAutofit/>
          </a:bodyPr>
          <a:lstStyle/>
          <a:p>
            <a:pPr marL="285750" indent="-285750" algn="l">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CNN (custom embeddings):</a:t>
            </a:r>
            <a:r>
              <a:rPr lang="en-IN" sz="1700" dirty="0">
                <a:solidFill>
                  <a:schemeClr val="tx1"/>
                </a:solidFill>
                <a:latin typeface="Times New Roman" panose="02020603050405020304" pitchFamily="18" charset="0"/>
                <a:cs typeface="Times New Roman" panose="02020603050405020304" pitchFamily="18" charset="0"/>
              </a:rPr>
              <a:t> </a:t>
            </a:r>
            <a:r>
              <a:rPr lang="en-IN" sz="1600" dirty="0" err="1">
                <a:solidFill>
                  <a:schemeClr val="tx1"/>
                </a:solidFill>
                <a:latin typeface="Times New Roman" panose="02020603050405020304" pitchFamily="18" charset="0"/>
                <a:cs typeface="Times New Roman" panose="02020603050405020304" pitchFamily="18" charset="0"/>
              </a:rPr>
              <a:t>Acc</a:t>
            </a:r>
            <a:r>
              <a:rPr lang="en-IN" sz="1600" dirty="0">
                <a:solidFill>
                  <a:schemeClr val="tx1"/>
                </a:solidFill>
                <a:latin typeface="Times New Roman" panose="02020603050405020304" pitchFamily="18" charset="0"/>
                <a:cs typeface="Times New Roman" panose="02020603050405020304" pitchFamily="18" charset="0"/>
              </a:rPr>
              <a:t> 85.88%, F1 86.48%, Toxic F1 70.9%, </a:t>
            </a:r>
            <a:r>
              <a:rPr lang="en-IN" sz="1600" dirty="0">
                <a:solidFill>
                  <a:schemeClr val="dk1"/>
                </a:solidFill>
                <a:latin typeface="Times New Roman" panose="02020603050405020304" pitchFamily="18" charset="0"/>
                <a:cs typeface="Times New Roman" panose="02020603050405020304" pitchFamily="18" charset="0"/>
              </a:rPr>
              <a:t>ROC-</a:t>
            </a:r>
            <a:r>
              <a:rPr lang="en-IN" sz="1600" dirty="0">
                <a:solidFill>
                  <a:schemeClr val="tx1"/>
                </a:solidFill>
                <a:latin typeface="Times New Roman" panose="02020603050405020304" pitchFamily="18" charset="0"/>
                <a:cs typeface="Times New Roman" panose="02020603050405020304" pitchFamily="18" charset="0"/>
              </a:rPr>
              <a:t>AUC 92.5%, Inference 11.2k/s</a:t>
            </a:r>
          </a:p>
          <a:p>
            <a:pPr marL="285750" indent="-285750" algn="l">
              <a:buClr>
                <a:schemeClr val="tx1"/>
              </a:buClr>
              <a:buFont typeface="Arial" panose="020B0604020202020204" pitchFamily="34" charset="0"/>
              <a:buChar char="•"/>
            </a:pPr>
            <a:r>
              <a:rPr lang="en-IN" sz="1700" b="1" dirty="0" err="1">
                <a:solidFill>
                  <a:schemeClr val="tx1"/>
                </a:solidFill>
                <a:latin typeface="Times New Roman" panose="02020603050405020304" pitchFamily="18" charset="0"/>
                <a:cs typeface="Times New Roman" panose="02020603050405020304" pitchFamily="18" charset="0"/>
              </a:rPr>
              <a:t>LSTM+Attention</a:t>
            </a:r>
            <a:r>
              <a:rPr lang="en-IN" sz="1700" b="1" dirty="0">
                <a:solidFill>
                  <a:schemeClr val="tx1"/>
                </a:solidFill>
                <a:latin typeface="Times New Roman" panose="02020603050405020304" pitchFamily="18" charset="0"/>
                <a:cs typeface="Times New Roman" panose="02020603050405020304" pitchFamily="18" charset="0"/>
              </a:rPr>
              <a:t>:</a:t>
            </a:r>
            <a:r>
              <a:rPr lang="en-IN" sz="1700" dirty="0">
                <a:solidFill>
                  <a:schemeClr val="tx1"/>
                </a:solidFill>
                <a:latin typeface="Times New Roman" panose="02020603050405020304" pitchFamily="18" charset="0"/>
                <a:cs typeface="Times New Roman" panose="02020603050405020304" pitchFamily="18" charset="0"/>
              </a:rPr>
              <a:t> </a:t>
            </a:r>
            <a:r>
              <a:rPr lang="en-IN" sz="1600" dirty="0" err="1">
                <a:solidFill>
                  <a:schemeClr val="tx1"/>
                </a:solidFill>
                <a:latin typeface="Times New Roman" panose="02020603050405020304" pitchFamily="18" charset="0"/>
                <a:cs typeface="Times New Roman" panose="02020603050405020304" pitchFamily="18" charset="0"/>
              </a:rPr>
              <a:t>Acc</a:t>
            </a:r>
            <a:r>
              <a:rPr lang="en-IN" sz="1600" dirty="0">
                <a:solidFill>
                  <a:schemeClr val="tx1"/>
                </a:solidFill>
                <a:latin typeface="Times New Roman" panose="02020603050405020304" pitchFamily="18" charset="0"/>
                <a:cs typeface="Times New Roman" panose="02020603050405020304" pitchFamily="18" charset="0"/>
              </a:rPr>
              <a:t> 83.6%, F1 84.6%, Toxic F1 68.2%, </a:t>
            </a:r>
            <a:r>
              <a:rPr lang="en-IN" sz="1600" dirty="0">
                <a:solidFill>
                  <a:schemeClr val="dk1"/>
                </a:solidFill>
                <a:latin typeface="Times New Roman" panose="02020603050405020304" pitchFamily="18" charset="0"/>
                <a:cs typeface="Times New Roman" panose="02020603050405020304" pitchFamily="18" charset="0"/>
              </a:rPr>
              <a:t>ROC-</a:t>
            </a:r>
            <a:r>
              <a:rPr lang="en-IN" sz="1600" dirty="0">
                <a:solidFill>
                  <a:schemeClr val="tx1"/>
                </a:solidFill>
                <a:latin typeface="Times New Roman" panose="02020603050405020304" pitchFamily="18" charset="0"/>
                <a:cs typeface="Times New Roman" panose="02020603050405020304" pitchFamily="18" charset="0"/>
              </a:rPr>
              <a:t>AUC 91.2%, Inference 150/s (slow, inefficient)</a:t>
            </a:r>
          </a:p>
          <a:p>
            <a:pPr marL="285750" indent="-285750" algn="l">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Enhanced </a:t>
            </a:r>
            <a:r>
              <a:rPr lang="en-IN" sz="1700" b="1" dirty="0" err="1">
                <a:solidFill>
                  <a:schemeClr val="tx1"/>
                </a:solidFill>
                <a:latin typeface="Times New Roman" panose="02020603050405020304" pitchFamily="18" charset="0"/>
                <a:cs typeface="Times New Roman" panose="02020603050405020304" pitchFamily="18" charset="0"/>
              </a:rPr>
              <a:t>TextCNN</a:t>
            </a:r>
            <a:r>
              <a:rPr lang="en-IN" sz="1700" b="1" dirty="0">
                <a:solidFill>
                  <a:schemeClr val="tx1"/>
                </a:solidFill>
                <a:latin typeface="Times New Roman" panose="02020603050405020304" pitchFamily="18" charset="0"/>
                <a:cs typeface="Times New Roman" panose="02020603050405020304" pitchFamily="18" charset="0"/>
              </a:rPr>
              <a:t> (</a:t>
            </a:r>
            <a:r>
              <a:rPr lang="en-IN" sz="1700" b="1" dirty="0" err="1">
                <a:solidFill>
                  <a:schemeClr val="tx1"/>
                </a:solidFill>
                <a:latin typeface="Times New Roman" panose="02020603050405020304" pitchFamily="18" charset="0"/>
                <a:cs typeface="Times New Roman" panose="02020603050405020304" pitchFamily="18" charset="0"/>
              </a:rPr>
              <a:t>GloVe</a:t>
            </a:r>
            <a:r>
              <a:rPr lang="en-IN" sz="1700" b="1" dirty="0">
                <a:solidFill>
                  <a:schemeClr val="tx1"/>
                </a:solidFill>
                <a:latin typeface="Times New Roman" panose="02020603050405020304" pitchFamily="18" charset="0"/>
                <a:cs typeface="Times New Roman" panose="02020603050405020304" pitchFamily="18" charset="0"/>
              </a:rPr>
              <a:t>):</a:t>
            </a:r>
            <a:r>
              <a:rPr lang="en-IN" sz="1700" dirty="0">
                <a:solidFill>
                  <a:schemeClr val="tx1"/>
                </a:solidFill>
                <a:latin typeface="Times New Roman" panose="02020603050405020304" pitchFamily="18" charset="0"/>
                <a:cs typeface="Times New Roman" panose="02020603050405020304" pitchFamily="18" charset="0"/>
              </a:rPr>
              <a:t> </a:t>
            </a:r>
            <a:r>
              <a:rPr lang="en-IN" sz="1600" dirty="0" err="1">
                <a:solidFill>
                  <a:schemeClr val="tx1"/>
                </a:solidFill>
                <a:latin typeface="Times New Roman" panose="02020603050405020304" pitchFamily="18" charset="0"/>
                <a:cs typeface="Times New Roman" panose="02020603050405020304" pitchFamily="18" charset="0"/>
              </a:rPr>
              <a:t>Acc</a:t>
            </a:r>
            <a:r>
              <a:rPr lang="en-IN" sz="1600" dirty="0">
                <a:solidFill>
                  <a:schemeClr val="tx1"/>
                </a:solidFill>
                <a:latin typeface="Times New Roman" panose="02020603050405020304" pitchFamily="18" charset="0"/>
                <a:cs typeface="Times New Roman" panose="02020603050405020304" pitchFamily="18" charset="0"/>
              </a:rPr>
              <a:t> 81.1%, F1 82.6%, Toxic Recall 89.9%, </a:t>
            </a:r>
            <a:r>
              <a:rPr lang="en-IN" sz="1600" dirty="0">
                <a:solidFill>
                  <a:schemeClr val="dk1"/>
                </a:solidFill>
                <a:latin typeface="Times New Roman" panose="02020603050405020304" pitchFamily="18" charset="0"/>
                <a:cs typeface="Times New Roman" panose="02020603050405020304" pitchFamily="18" charset="0"/>
              </a:rPr>
              <a:t>ROC-</a:t>
            </a:r>
            <a:r>
              <a:rPr lang="en-IN" sz="1600" dirty="0">
                <a:solidFill>
                  <a:schemeClr val="tx1"/>
                </a:solidFill>
                <a:latin typeface="Times New Roman" panose="02020603050405020304" pitchFamily="18" charset="0"/>
                <a:cs typeface="Times New Roman" panose="02020603050405020304" pitchFamily="18" charset="0"/>
              </a:rPr>
              <a:t>AUC 92.3%, Inference 9.3k/s</a:t>
            </a:r>
          </a:p>
          <a:p>
            <a:pPr marL="285750" indent="-285750" algn="l">
              <a:buClr>
                <a:schemeClr val="tx1"/>
              </a:buClr>
              <a:buFont typeface="Arial" panose="020B0604020202020204" pitchFamily="34" charset="0"/>
              <a:buChar char="•"/>
            </a:pPr>
            <a:r>
              <a:rPr lang="en-IN" sz="1700" b="1" dirty="0">
                <a:solidFill>
                  <a:schemeClr val="tx1"/>
                </a:solidFill>
                <a:latin typeface="Times New Roman" panose="02020603050405020304" pitchFamily="18" charset="0"/>
                <a:cs typeface="Times New Roman" panose="02020603050405020304" pitchFamily="18" charset="0"/>
              </a:rPr>
              <a:t>CNN-GRU Hybrid: second</a:t>
            </a:r>
            <a:r>
              <a:rPr lang="en-IN" sz="1700" dirty="0">
                <a:solidFill>
                  <a:schemeClr val="tx1"/>
                </a:solidFill>
                <a:latin typeface="Times New Roman" panose="02020603050405020304" pitchFamily="18" charset="0"/>
                <a:cs typeface="Times New Roman" panose="02020603050405020304" pitchFamily="18" charset="0"/>
              </a:rPr>
              <a:t> </a:t>
            </a:r>
            <a:r>
              <a:rPr lang="en-IN" sz="1700" b="1" dirty="0">
                <a:solidFill>
                  <a:schemeClr val="tx1"/>
                </a:solidFill>
                <a:latin typeface="Times New Roman" panose="02020603050405020304" pitchFamily="18" charset="0"/>
                <a:cs typeface="Times New Roman" panose="02020603050405020304" pitchFamily="18" charset="0"/>
              </a:rPr>
              <a:t>Best</a:t>
            </a:r>
            <a:r>
              <a:rPr lang="en-IN" sz="1700" dirty="0">
                <a:solidFill>
                  <a:schemeClr val="tx1"/>
                </a:solidFill>
                <a:latin typeface="Times New Roman" panose="02020603050405020304" pitchFamily="18" charset="0"/>
                <a:cs typeface="Times New Roman" panose="02020603050405020304" pitchFamily="18" charset="0"/>
              </a:rPr>
              <a:t> : </a:t>
            </a:r>
            <a:r>
              <a:rPr lang="en-IN" sz="1600" dirty="0" err="1">
                <a:solidFill>
                  <a:schemeClr val="tx1"/>
                </a:solidFill>
                <a:latin typeface="Times New Roman" panose="02020603050405020304" pitchFamily="18" charset="0"/>
                <a:cs typeface="Times New Roman" panose="02020603050405020304" pitchFamily="18" charset="0"/>
              </a:rPr>
              <a:t>Acc</a:t>
            </a:r>
            <a:r>
              <a:rPr lang="en-IN" sz="1600" dirty="0">
                <a:solidFill>
                  <a:schemeClr val="tx1"/>
                </a:solidFill>
                <a:latin typeface="Times New Roman" panose="02020603050405020304" pitchFamily="18" charset="0"/>
                <a:cs typeface="Times New Roman" panose="02020603050405020304" pitchFamily="18" charset="0"/>
              </a:rPr>
              <a:t> 87.4%, F1 87.7%, Toxic F1 72.4%, </a:t>
            </a:r>
            <a:r>
              <a:rPr lang="en-IN" sz="1600" dirty="0">
                <a:solidFill>
                  <a:schemeClr val="dk1"/>
                </a:solidFill>
                <a:latin typeface="Times New Roman" panose="02020603050405020304" pitchFamily="18" charset="0"/>
                <a:cs typeface="Times New Roman" panose="02020603050405020304" pitchFamily="18" charset="0"/>
              </a:rPr>
              <a:t>ROC-</a:t>
            </a:r>
            <a:r>
              <a:rPr lang="en-IN" sz="1600" dirty="0">
                <a:solidFill>
                  <a:schemeClr val="tx1"/>
                </a:solidFill>
                <a:latin typeface="Times New Roman" panose="02020603050405020304" pitchFamily="18" charset="0"/>
                <a:cs typeface="Times New Roman" panose="02020603050405020304" pitchFamily="18" charset="0"/>
              </a:rPr>
              <a:t>AUC 93.0%, Inference </a:t>
            </a:r>
            <a:r>
              <a:rPr lang="en-IN" sz="1600" b="1" dirty="0">
                <a:solidFill>
                  <a:schemeClr val="tx1"/>
                </a:solidFill>
                <a:latin typeface="Times New Roman" panose="02020603050405020304" pitchFamily="18" charset="0"/>
                <a:cs typeface="Times New Roman" panose="02020603050405020304" pitchFamily="18" charset="0"/>
              </a:rPr>
              <a:t>20.9k/s</a:t>
            </a:r>
            <a:r>
              <a:rPr lang="en-IN" sz="1600" dirty="0">
                <a:solidFill>
                  <a:schemeClr val="tx1"/>
                </a:solidFill>
                <a:latin typeface="Times New Roman" panose="02020603050405020304" pitchFamily="18" charset="0"/>
                <a:cs typeface="Times New Roman" panose="02020603050405020304" pitchFamily="18" charset="0"/>
              </a:rPr>
              <a:t> (fastest, balanced)</a:t>
            </a:r>
          </a:p>
          <a:p>
            <a:pPr marL="285750" indent="-285750" algn="l">
              <a:buClr>
                <a:schemeClr val="tx1"/>
              </a:buClr>
              <a:buFont typeface="Arial" panose="020B0604020202020204" pitchFamily="34" charset="0"/>
              <a:buChar char="•"/>
            </a:pPr>
            <a:r>
              <a:rPr lang="en-IN" sz="1700" b="1" dirty="0" err="1">
                <a:solidFill>
                  <a:schemeClr val="tx1"/>
                </a:solidFill>
                <a:latin typeface="Times New Roman" panose="02020603050405020304" pitchFamily="18" charset="0"/>
                <a:cs typeface="Times New Roman" panose="02020603050405020304" pitchFamily="18" charset="0"/>
              </a:rPr>
              <a:t>DistilBERT</a:t>
            </a:r>
            <a:r>
              <a:rPr lang="en-IN" sz="1700" b="1" dirty="0">
                <a:solidFill>
                  <a:schemeClr val="tx1"/>
                </a:solidFill>
                <a:latin typeface="Times New Roman" panose="02020603050405020304" pitchFamily="18" charset="0"/>
                <a:cs typeface="Times New Roman" panose="02020603050405020304" pitchFamily="18" charset="0"/>
              </a:rPr>
              <a:t> finetuned:  </a:t>
            </a:r>
            <a:r>
              <a:rPr lang="en-IN" sz="1600" dirty="0" err="1">
                <a:solidFill>
                  <a:schemeClr val="tx1"/>
                </a:solidFill>
                <a:latin typeface="Times New Roman" panose="02020603050405020304" pitchFamily="18" charset="0"/>
                <a:cs typeface="Times New Roman" panose="02020603050405020304" pitchFamily="18" charset="0"/>
              </a:rPr>
              <a:t>Acc</a:t>
            </a:r>
            <a:r>
              <a:rPr lang="en-IN" sz="1600" dirty="0">
                <a:solidFill>
                  <a:schemeClr val="tx1"/>
                </a:solidFill>
                <a:latin typeface="Times New Roman" panose="02020603050405020304" pitchFamily="18" charset="0"/>
                <a:cs typeface="Times New Roman" panose="02020603050405020304" pitchFamily="18" charset="0"/>
              </a:rPr>
              <a:t> 90.47% F1  90.40% Toxic Recall 77.10%</a:t>
            </a:r>
          </a:p>
          <a:p>
            <a:pPr algn="l">
              <a:spcBef>
                <a:spcPts val="400"/>
              </a:spcBef>
              <a:buClr>
                <a:schemeClr val="tx1"/>
              </a:buClr>
            </a:pPr>
            <a:r>
              <a:rPr lang="en-IN" sz="1600" dirty="0">
                <a:solidFill>
                  <a:schemeClr val="tx1"/>
                </a:solidFill>
                <a:latin typeface="Times New Roman" panose="02020603050405020304" pitchFamily="18" charset="0"/>
                <a:cs typeface="Times New Roman" panose="02020603050405020304" pitchFamily="18" charset="0"/>
              </a:rPr>
              <a:t>       </a:t>
            </a:r>
            <a:r>
              <a:rPr lang="en-IN" sz="1600" dirty="0">
                <a:solidFill>
                  <a:schemeClr val="dk1"/>
                </a:solidFill>
                <a:latin typeface="Times New Roman" panose="02020603050405020304" pitchFamily="18" charset="0"/>
                <a:cs typeface="Times New Roman" panose="02020603050405020304" pitchFamily="18" charset="0"/>
              </a:rPr>
              <a:t>ROC-</a:t>
            </a:r>
            <a:r>
              <a:rPr lang="en-IN" sz="1600" dirty="0">
                <a:solidFill>
                  <a:schemeClr val="tx1"/>
                </a:solidFill>
                <a:latin typeface="Times New Roman" panose="02020603050405020304" pitchFamily="18" charset="0"/>
                <a:cs typeface="Times New Roman" panose="02020603050405020304" pitchFamily="18" charset="0"/>
              </a:rPr>
              <a:t>AUC  95.29%</a:t>
            </a:r>
          </a:p>
          <a:p>
            <a:pPr marL="285750" indent="-285750" algn="l">
              <a:spcBef>
                <a:spcPts val="400"/>
              </a:spcBef>
              <a:buClr>
                <a:schemeClr val="tx1"/>
              </a:buClr>
              <a:buFont typeface="Arial" panose="020B0604020202020204" pitchFamily="34" charset="0"/>
              <a:buChar char="•"/>
            </a:pPr>
            <a:r>
              <a:rPr lang="en-IN" sz="1600" b="1" dirty="0" err="1">
                <a:solidFill>
                  <a:schemeClr val="tx1"/>
                </a:solidFill>
                <a:latin typeface="Times New Roman" panose="02020603050405020304" pitchFamily="18" charset="0"/>
                <a:cs typeface="Times New Roman" panose="02020603050405020304" pitchFamily="18" charset="0"/>
              </a:rPr>
              <a:t>Ensable</a:t>
            </a:r>
            <a:r>
              <a:rPr lang="en-IN" sz="1600" b="1" dirty="0">
                <a:solidFill>
                  <a:schemeClr val="tx1"/>
                </a:solidFill>
                <a:latin typeface="Times New Roman" panose="02020603050405020304" pitchFamily="18" charset="0"/>
                <a:cs typeface="Times New Roman" panose="02020603050405020304" pitchFamily="18" charset="0"/>
              </a:rPr>
              <a:t> of </a:t>
            </a:r>
            <a:r>
              <a:rPr lang="en-IN" sz="1600" b="1" dirty="0" err="1">
                <a:solidFill>
                  <a:schemeClr val="tx1"/>
                </a:solidFill>
                <a:latin typeface="Times New Roman" panose="02020603050405020304" pitchFamily="18" charset="0"/>
                <a:cs typeface="Times New Roman" panose="02020603050405020304" pitchFamily="18" charset="0"/>
              </a:rPr>
              <a:t>DistilBERT</a:t>
            </a:r>
            <a:r>
              <a:rPr lang="en-IN" sz="1600" b="1" dirty="0">
                <a:solidFill>
                  <a:schemeClr val="tx1"/>
                </a:solidFill>
                <a:latin typeface="Times New Roman" panose="02020603050405020304" pitchFamily="18" charset="0"/>
                <a:cs typeface="Times New Roman" panose="02020603050405020304" pitchFamily="18" charset="0"/>
              </a:rPr>
              <a:t> and </a:t>
            </a:r>
            <a:r>
              <a:rPr lang="en-IN" sz="1700" b="1" dirty="0">
                <a:solidFill>
                  <a:schemeClr val="tx1"/>
                </a:solidFill>
                <a:latin typeface="Times New Roman" panose="02020603050405020304" pitchFamily="18" charset="0"/>
                <a:cs typeface="Times New Roman" panose="02020603050405020304" pitchFamily="18" charset="0"/>
              </a:rPr>
              <a:t>CNN-GRU Hybrid: </a:t>
            </a:r>
            <a:r>
              <a:rPr lang="en-IN" sz="1600" dirty="0" err="1">
                <a:solidFill>
                  <a:schemeClr val="tx1"/>
                </a:solidFill>
                <a:latin typeface="Times New Roman" panose="02020603050405020304" pitchFamily="18" charset="0"/>
                <a:cs typeface="Times New Roman" panose="02020603050405020304" pitchFamily="18" charset="0"/>
              </a:rPr>
              <a:t>Acc</a:t>
            </a:r>
            <a:r>
              <a:rPr lang="en-IN" sz="1600" dirty="0">
                <a:solidFill>
                  <a:schemeClr val="tx1"/>
                </a:solidFill>
                <a:latin typeface="Times New Roman" panose="02020603050405020304" pitchFamily="18" charset="0"/>
                <a:cs typeface="Times New Roman" panose="02020603050405020304" pitchFamily="18" charset="0"/>
              </a:rPr>
              <a:t> </a:t>
            </a:r>
            <a:r>
              <a:rPr lang="en-IN" sz="1600" dirty="0">
                <a:solidFill>
                  <a:schemeClr val="dk1"/>
                </a:solidFill>
                <a:latin typeface="Times New Roman" panose="02020603050405020304" pitchFamily="18" charset="0"/>
                <a:cs typeface="Times New Roman" panose="02020603050405020304" pitchFamily="18" charset="0"/>
              </a:rPr>
              <a:t>92.79</a:t>
            </a:r>
            <a:r>
              <a:rPr lang="en-IN" sz="1600" dirty="0">
                <a:solidFill>
                  <a:schemeClr val="tx1"/>
                </a:solidFill>
                <a:latin typeface="Times New Roman" panose="02020603050405020304" pitchFamily="18" charset="0"/>
                <a:cs typeface="Times New Roman" panose="02020603050405020304" pitchFamily="18" charset="0"/>
              </a:rPr>
              <a:t>  F1 </a:t>
            </a:r>
            <a:r>
              <a:rPr lang="en-IN" sz="1600" dirty="0">
                <a:solidFill>
                  <a:schemeClr val="dk1"/>
                </a:solidFill>
                <a:latin typeface="Times New Roman" panose="02020603050405020304" pitchFamily="18" charset="0"/>
                <a:cs typeface="Times New Roman" panose="02020603050405020304" pitchFamily="18" charset="0"/>
              </a:rPr>
              <a:t>92.74</a:t>
            </a:r>
          </a:p>
          <a:p>
            <a:pPr algn="l">
              <a:spcBef>
                <a:spcPts val="400"/>
              </a:spcBef>
              <a:buClr>
                <a:schemeClr val="tx1"/>
              </a:buClr>
            </a:pPr>
            <a:r>
              <a:rPr lang="en-IN" sz="1600" dirty="0">
                <a:solidFill>
                  <a:schemeClr val="dk1"/>
                </a:solidFill>
                <a:latin typeface="Times New Roman" panose="02020603050405020304" pitchFamily="18" charset="0"/>
                <a:cs typeface="Times New Roman" panose="02020603050405020304" pitchFamily="18" charset="0"/>
              </a:rPr>
              <a:t>     </a:t>
            </a:r>
            <a:r>
              <a:rPr lang="en-IN" sz="1600" dirty="0">
                <a:solidFill>
                  <a:schemeClr val="tx1"/>
                </a:solidFill>
                <a:latin typeface="Times New Roman" panose="02020603050405020304" pitchFamily="18" charset="0"/>
                <a:cs typeface="Times New Roman" panose="02020603050405020304" pitchFamily="18" charset="0"/>
              </a:rPr>
              <a:t>Toxic Recall </a:t>
            </a:r>
            <a:r>
              <a:rPr lang="en-IN" sz="1600" dirty="0">
                <a:solidFill>
                  <a:schemeClr val="dk1"/>
                </a:solidFill>
                <a:latin typeface="Times New Roman" panose="02020603050405020304" pitchFamily="18" charset="0"/>
                <a:cs typeface="Times New Roman" panose="02020603050405020304" pitchFamily="18" charset="0"/>
              </a:rPr>
              <a:t>82.67 ROC-</a:t>
            </a:r>
            <a:r>
              <a:rPr lang="en-IN" sz="1600" dirty="0">
                <a:solidFill>
                  <a:schemeClr val="tx1"/>
                </a:solidFill>
                <a:latin typeface="Times New Roman" panose="02020603050405020304" pitchFamily="18" charset="0"/>
                <a:cs typeface="Times New Roman" panose="02020603050405020304" pitchFamily="18" charset="0"/>
              </a:rPr>
              <a:t>AUC  </a:t>
            </a:r>
            <a:r>
              <a:rPr lang="en-IN" sz="1600" dirty="0">
                <a:solidFill>
                  <a:schemeClr val="dk1"/>
                </a:solidFill>
                <a:latin typeface="Times New Roman" panose="02020603050405020304" pitchFamily="18" charset="0"/>
                <a:cs typeface="Times New Roman" panose="02020603050405020304" pitchFamily="18" charset="0"/>
              </a:rPr>
              <a:t>97.04</a:t>
            </a:r>
          </a:p>
          <a:p>
            <a:pPr algn="l">
              <a:spcBef>
                <a:spcPts val="400"/>
              </a:spcBef>
              <a:buClr>
                <a:schemeClr val="tx1"/>
              </a:buClr>
            </a:pPr>
            <a:endParaRPr lang="en-IN" dirty="0">
              <a:solidFill>
                <a:schemeClr val="dk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911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B2FC-90B9-5B91-986D-64FDAE412952}"/>
              </a:ext>
            </a:extLst>
          </p:cNvPr>
          <p:cNvSpPr>
            <a:spLocks noGrp="1"/>
          </p:cNvSpPr>
          <p:nvPr>
            <p:ph type="title"/>
          </p:nvPr>
        </p:nvSpPr>
        <p:spPr>
          <a:xfrm>
            <a:off x="1266825" y="609601"/>
            <a:ext cx="7239000" cy="727587"/>
          </a:xfrm>
        </p:spPr>
        <p:txBody>
          <a:bodyPr>
            <a:normAutofit/>
          </a:bodyPr>
          <a:lstStyle/>
          <a:p>
            <a:r>
              <a:rPr lang="en-IN" altLang="en-US" sz="3270" b="1" dirty="0">
                <a:solidFill>
                  <a:srgbClr val="000000"/>
                </a:solidFill>
                <a:latin typeface="Times New Roman" panose="02020603050405020304" pitchFamily="18" charset="0"/>
                <a:cs typeface="DejaVu Sans" charset="0"/>
              </a:rPr>
              <a:t>Experimental setup </a:t>
            </a:r>
            <a:endParaRPr lang="en-IN" sz="3270" b="1" dirty="0"/>
          </a:p>
        </p:txBody>
      </p:sp>
      <p:sp>
        <p:nvSpPr>
          <p:cNvPr id="3" name="Content Placeholder 2">
            <a:extLst>
              <a:ext uri="{FF2B5EF4-FFF2-40B4-BE49-F238E27FC236}">
                <a16:creationId xmlns:a16="http://schemas.microsoft.com/office/drawing/2014/main" id="{63135F9B-A8C0-0AEF-8252-FAB5170C94DD}"/>
              </a:ext>
            </a:extLst>
          </p:cNvPr>
          <p:cNvSpPr>
            <a:spLocks noGrp="1"/>
          </p:cNvSpPr>
          <p:nvPr>
            <p:ph idx="1"/>
          </p:nvPr>
        </p:nvSpPr>
        <p:spPr>
          <a:xfrm>
            <a:off x="1266825" y="1604283"/>
            <a:ext cx="7402286" cy="4550228"/>
          </a:xfrm>
        </p:spPr>
        <p:txBody>
          <a:body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Dataset:</a:t>
            </a:r>
          </a:p>
          <a:p>
            <a:pPr marL="0" indent="0">
              <a:buNone/>
            </a:pPr>
            <a:r>
              <a:rPr lang="en-US" b="1" dirty="0">
                <a:solidFill>
                  <a:schemeClr val="tx1"/>
                </a:solidFill>
                <a:latin typeface="Times New Roman" panose="02020603050405020304" pitchFamily="18" charset="0"/>
                <a:cs typeface="Times New Roman" panose="02020603050405020304" pitchFamily="18" charset="0"/>
              </a:rPr>
              <a:t>Source</a:t>
            </a:r>
            <a:r>
              <a:rPr lang="en-US" dirty="0">
                <a:solidFill>
                  <a:schemeClr val="tx1"/>
                </a:solidFill>
                <a:latin typeface="Times New Roman" panose="02020603050405020304" pitchFamily="18" charset="0"/>
                <a:cs typeface="Times New Roman" panose="02020603050405020304" pitchFamily="18" charset="0"/>
              </a:rPr>
              <a:t>: MetaHate Benchmark (2024) – curated by IRLab</a:t>
            </a:r>
          </a:p>
          <a:p>
            <a:pPr marL="0" indent="0">
              <a:buNone/>
            </a:pPr>
            <a:r>
              <a:rPr lang="en-US" b="1" dirty="0">
                <a:solidFill>
                  <a:schemeClr val="tx1"/>
                </a:solidFill>
                <a:latin typeface="Times New Roman" panose="02020603050405020304" pitchFamily="18" charset="0"/>
                <a:cs typeface="Times New Roman" panose="02020603050405020304" pitchFamily="18" charset="0"/>
              </a:rPr>
              <a:t>Content</a:t>
            </a:r>
            <a:r>
              <a:rPr lang="en-US" dirty="0">
                <a:solidFill>
                  <a:schemeClr val="tx1"/>
                </a:solidFill>
                <a:latin typeface="Times New Roman" panose="02020603050405020304" pitchFamily="18" charset="0"/>
                <a:cs typeface="Times New Roman" panose="02020603050405020304" pitchFamily="18" charset="0"/>
              </a:rPr>
              <a:t>: Combines </a:t>
            </a:r>
            <a:r>
              <a:rPr lang="en-US" b="1" dirty="0">
                <a:solidFill>
                  <a:schemeClr val="tx1"/>
                </a:solidFill>
                <a:latin typeface="Times New Roman" panose="02020603050405020304" pitchFamily="18" charset="0"/>
                <a:cs typeface="Times New Roman" panose="02020603050405020304" pitchFamily="18" charset="0"/>
              </a:rPr>
              <a:t>36 English hate speech datasets</a:t>
            </a:r>
            <a:r>
              <a:rPr lang="en-US" dirty="0">
                <a:solidFill>
                  <a:schemeClr val="tx1"/>
                </a:solidFill>
                <a:latin typeface="Times New Roman" panose="02020603050405020304" pitchFamily="18" charset="0"/>
                <a:cs typeface="Times New Roman" panose="02020603050405020304" pitchFamily="18" charset="0"/>
              </a:rPr>
              <a:t> from different domains (Twitter, Reddit, news comments, etc.)</a:t>
            </a:r>
          </a:p>
          <a:p>
            <a:pPr marL="0" indent="0">
              <a:buNone/>
            </a:pPr>
            <a:r>
              <a:rPr lang="en-US" b="1" dirty="0">
                <a:solidFill>
                  <a:schemeClr val="tx1"/>
                </a:solidFill>
                <a:latin typeface="Times New Roman" panose="02020603050405020304" pitchFamily="18" charset="0"/>
                <a:cs typeface="Times New Roman" panose="02020603050405020304" pitchFamily="18" charset="0"/>
              </a:rPr>
              <a:t>Size</a:t>
            </a:r>
            <a:r>
              <a:rPr lang="en-US" dirty="0">
                <a:solidFill>
                  <a:schemeClr val="tx1"/>
                </a:solidFill>
                <a:latin typeface="Times New Roman" panose="02020603050405020304" pitchFamily="18" charset="0"/>
                <a:cs typeface="Times New Roman" panose="02020603050405020304" pitchFamily="18" charset="0"/>
              </a:rPr>
              <a:t>: Hundreds of thousands of labeled comments/posts aggregated</a:t>
            </a:r>
          </a:p>
          <a:p>
            <a:pPr marL="0" indent="0">
              <a:buNone/>
            </a:pPr>
            <a:r>
              <a:rPr lang="en-US" dirty="0">
                <a:solidFill>
                  <a:schemeClr val="tx1"/>
                </a:solidFill>
                <a:latin typeface="Times New Roman" panose="02020603050405020304" pitchFamily="18" charset="0"/>
                <a:cs typeface="Times New Roman" panose="02020603050405020304" pitchFamily="18" charset="0"/>
              </a:rPr>
              <a:t>	1.1million records</a:t>
            </a:r>
          </a:p>
          <a:p>
            <a:pPr marL="0" indent="0">
              <a:buNone/>
            </a:pPr>
            <a:r>
              <a:rPr lang="en-US" b="1" dirty="0">
                <a:solidFill>
                  <a:schemeClr val="tx1"/>
                </a:solidFill>
                <a:latin typeface="Times New Roman" panose="02020603050405020304" pitchFamily="18" charset="0"/>
                <a:cs typeface="Times New Roman" panose="02020603050405020304" pitchFamily="18" charset="0"/>
              </a:rPr>
              <a:t>Purpose</a:t>
            </a:r>
            <a:r>
              <a:rPr lang="en-US" dirty="0">
                <a:solidFill>
                  <a:schemeClr val="tx1"/>
                </a:solidFill>
                <a:latin typeface="Times New Roman" panose="02020603050405020304" pitchFamily="18" charset="0"/>
                <a:cs typeface="Times New Roman" panose="02020603050405020304" pitchFamily="18" charset="0"/>
              </a:rPr>
              <a:t>: Provides a </a:t>
            </a:r>
            <a:r>
              <a:rPr lang="en-US" b="1" dirty="0">
                <a:solidFill>
                  <a:schemeClr val="tx1"/>
                </a:solidFill>
                <a:latin typeface="Times New Roman" panose="02020603050405020304" pitchFamily="18" charset="0"/>
                <a:cs typeface="Times New Roman" panose="02020603050405020304" pitchFamily="18" charset="0"/>
              </a:rPr>
              <a:t>unified benchmark</a:t>
            </a:r>
            <a:r>
              <a:rPr lang="en-US" dirty="0">
                <a:solidFill>
                  <a:schemeClr val="tx1"/>
                </a:solidFill>
                <a:latin typeface="Times New Roman" panose="02020603050405020304" pitchFamily="18" charset="0"/>
                <a:cs typeface="Times New Roman" panose="02020603050405020304" pitchFamily="18" charset="0"/>
              </a:rPr>
              <a:t> for training and testing hate speech detection models</a:t>
            </a:r>
          </a:p>
          <a:p>
            <a:pPr marL="0" indent="0">
              <a:buNone/>
            </a:pPr>
            <a:r>
              <a:rPr lang="en-US" dirty="0">
                <a:solidFill>
                  <a:schemeClr val="tx1"/>
                </a:solidFill>
                <a:latin typeface="Times New Roman" panose="02020603050405020304" pitchFamily="18" charset="0"/>
                <a:cs typeface="Times New Roman" panose="02020603050405020304" pitchFamily="18" charset="0"/>
              </a:rPr>
              <a:t>Language : Python</a:t>
            </a:r>
          </a:p>
          <a:p>
            <a:pPr marL="0" indent="0">
              <a:buNone/>
            </a:pPr>
            <a:r>
              <a:rPr lang="en-US" dirty="0" err="1">
                <a:solidFill>
                  <a:schemeClr val="tx1"/>
                </a:solidFill>
                <a:latin typeface="Times New Roman" panose="02020603050405020304" pitchFamily="18" charset="0"/>
                <a:cs typeface="Times New Roman" panose="02020603050405020304" pitchFamily="18" charset="0"/>
              </a:rPr>
              <a:t>Eviornment</a:t>
            </a:r>
            <a:r>
              <a:rPr lang="en-US" dirty="0">
                <a:solidFill>
                  <a:schemeClr val="tx1"/>
                </a:solidFill>
                <a:latin typeface="Times New Roman" panose="02020603050405020304" pitchFamily="18" charset="0"/>
                <a:cs typeface="Times New Roman" panose="02020603050405020304" pitchFamily="18" charset="0"/>
              </a:rPr>
              <a:t> : Kaggle P100 GPU</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594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D38E4-57DB-85BE-79F6-BE0BA54B2084}"/>
              </a:ext>
            </a:extLst>
          </p:cNvPr>
          <p:cNvSpPr>
            <a:spLocks noGrp="1"/>
          </p:cNvSpPr>
          <p:nvPr>
            <p:ph type="title"/>
          </p:nvPr>
        </p:nvSpPr>
        <p:spPr>
          <a:xfrm>
            <a:off x="1628776" y="361950"/>
            <a:ext cx="7663543" cy="903514"/>
          </a:xfrm>
        </p:spPr>
        <p:txBody>
          <a:bodyPr>
            <a:normAutofit/>
          </a:bodyPr>
          <a:lstStyle/>
          <a:p>
            <a:r>
              <a:rPr lang="en-IN" sz="3270" b="1" dirty="0">
                <a:solidFill>
                  <a:schemeClr val="tx1"/>
                </a:solidFill>
                <a:latin typeface="Times New Roman" panose="02020603050405020304" pitchFamily="18" charset="0"/>
                <a:cs typeface="Times New Roman" panose="02020603050405020304" pitchFamily="18" charset="0"/>
              </a:rPr>
              <a:t>Implementation</a:t>
            </a:r>
          </a:p>
        </p:txBody>
      </p:sp>
      <p:pic>
        <p:nvPicPr>
          <p:cNvPr id="5" name="Picture 4">
            <a:extLst>
              <a:ext uri="{FF2B5EF4-FFF2-40B4-BE49-F238E27FC236}">
                <a16:creationId xmlns:a16="http://schemas.microsoft.com/office/drawing/2014/main" id="{7D3B482A-343C-7502-AD49-41F27E9BB608}"/>
              </a:ext>
            </a:extLst>
          </p:cNvPr>
          <p:cNvPicPr>
            <a:picLocks noChangeAspect="1"/>
          </p:cNvPicPr>
          <p:nvPr/>
        </p:nvPicPr>
        <p:blipFill>
          <a:blip r:embed="rId2"/>
          <a:srcRect l="16172" r="11988"/>
          <a:stretch>
            <a:fillRect/>
          </a:stretch>
        </p:blipFill>
        <p:spPr>
          <a:xfrm>
            <a:off x="1394731" y="1332139"/>
            <a:ext cx="4386944" cy="5242304"/>
          </a:xfrm>
          <a:prstGeom prst="rect">
            <a:avLst/>
          </a:prstGeom>
        </p:spPr>
      </p:pic>
      <p:pic>
        <p:nvPicPr>
          <p:cNvPr id="7" name="Picture 6">
            <a:extLst>
              <a:ext uri="{FF2B5EF4-FFF2-40B4-BE49-F238E27FC236}">
                <a16:creationId xmlns:a16="http://schemas.microsoft.com/office/drawing/2014/main" id="{F59973E3-FD63-9055-7E86-25D28799564B}"/>
              </a:ext>
            </a:extLst>
          </p:cNvPr>
          <p:cNvPicPr>
            <a:picLocks noChangeAspect="1"/>
          </p:cNvPicPr>
          <p:nvPr/>
        </p:nvPicPr>
        <p:blipFill>
          <a:blip r:embed="rId3"/>
          <a:stretch>
            <a:fillRect/>
          </a:stretch>
        </p:blipFill>
        <p:spPr>
          <a:xfrm>
            <a:off x="5905500" y="1332139"/>
            <a:ext cx="4049487" cy="5238493"/>
          </a:xfrm>
          <a:prstGeom prst="rect">
            <a:avLst/>
          </a:prstGeom>
        </p:spPr>
      </p:pic>
    </p:spTree>
    <p:extLst>
      <p:ext uri="{BB962C8B-B14F-4D97-AF65-F5344CB8AC3E}">
        <p14:creationId xmlns:p14="http://schemas.microsoft.com/office/powerpoint/2010/main" val="3018482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179E3-0BFD-1CEE-55CB-8A49A7EEF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44A71-FEEF-8A71-C73C-D199C97E1623}"/>
              </a:ext>
            </a:extLst>
          </p:cNvPr>
          <p:cNvSpPr>
            <a:spLocks noGrp="1"/>
          </p:cNvSpPr>
          <p:nvPr>
            <p:ph type="title"/>
          </p:nvPr>
        </p:nvSpPr>
        <p:spPr>
          <a:xfrm>
            <a:off x="1504951" y="463323"/>
            <a:ext cx="7663543" cy="903514"/>
          </a:xfrm>
        </p:spPr>
        <p:txBody>
          <a:bodyPr>
            <a:normAutofit/>
          </a:bodyPr>
          <a:lstStyle/>
          <a:p>
            <a:r>
              <a:rPr lang="en-IN" sz="3270" dirty="0">
                <a:solidFill>
                  <a:schemeClr val="tx1"/>
                </a:solidFill>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97B267B3-2CEC-E0E0-406B-5F79D904C94C}"/>
              </a:ext>
            </a:extLst>
          </p:cNvPr>
          <p:cNvPicPr>
            <a:picLocks noChangeAspect="1"/>
          </p:cNvPicPr>
          <p:nvPr/>
        </p:nvPicPr>
        <p:blipFill>
          <a:blip r:embed="rId2"/>
          <a:stretch>
            <a:fillRect/>
          </a:stretch>
        </p:blipFill>
        <p:spPr>
          <a:xfrm>
            <a:off x="1504951" y="1338262"/>
            <a:ext cx="7489372" cy="4181475"/>
          </a:xfrm>
          <a:prstGeom prst="rect">
            <a:avLst/>
          </a:prstGeom>
        </p:spPr>
      </p:pic>
    </p:spTree>
    <p:extLst>
      <p:ext uri="{BB962C8B-B14F-4D97-AF65-F5344CB8AC3E}">
        <p14:creationId xmlns:p14="http://schemas.microsoft.com/office/powerpoint/2010/main" val="43695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F781A-4C70-2063-F3FC-1C6C068F18CE}"/>
              </a:ext>
            </a:extLst>
          </p:cNvPr>
          <p:cNvSpPr>
            <a:spLocks noGrp="1"/>
          </p:cNvSpPr>
          <p:nvPr>
            <p:ph type="ctrTitle"/>
          </p:nvPr>
        </p:nvSpPr>
        <p:spPr>
          <a:xfrm>
            <a:off x="1788966" y="621454"/>
            <a:ext cx="5826719" cy="521546"/>
          </a:xfrm>
        </p:spPr>
        <p:txBody>
          <a:bodyPr/>
          <a:lstStyle/>
          <a:p>
            <a:pPr algn="l"/>
            <a:r>
              <a:rPr lang="en-IN" sz="2800" dirty="0">
                <a:solidFill>
                  <a:schemeClr val="tx1"/>
                </a:solidFill>
                <a:latin typeface="Times New Roman" panose="02020603050405020304" pitchFamily="18" charset="0"/>
                <a:cs typeface="Times New Roman" panose="02020603050405020304" pitchFamily="18" charset="0"/>
              </a:rPr>
              <a:t>Model Performance Comparison:</a:t>
            </a:r>
          </a:p>
        </p:txBody>
      </p:sp>
      <p:graphicFrame>
        <p:nvGraphicFramePr>
          <p:cNvPr id="4" name="Table 3">
            <a:extLst>
              <a:ext uri="{FF2B5EF4-FFF2-40B4-BE49-F238E27FC236}">
                <a16:creationId xmlns:a16="http://schemas.microsoft.com/office/drawing/2014/main" id="{9A033DF5-2D8A-C62E-D287-84D79C8DEC11}"/>
              </a:ext>
            </a:extLst>
          </p:cNvPr>
          <p:cNvGraphicFramePr>
            <a:graphicFrameLocks noGrp="1"/>
          </p:cNvGraphicFramePr>
          <p:nvPr>
            <p:extLst>
              <p:ext uri="{D42A27DB-BD31-4B8C-83A1-F6EECF244321}">
                <p14:modId xmlns:p14="http://schemas.microsoft.com/office/powerpoint/2010/main" val="502321647"/>
              </p:ext>
            </p:extLst>
          </p:nvPr>
        </p:nvGraphicFramePr>
        <p:xfrm>
          <a:off x="648929" y="1229033"/>
          <a:ext cx="10294374" cy="5375801"/>
        </p:xfrm>
        <a:graphic>
          <a:graphicData uri="http://schemas.openxmlformats.org/drawingml/2006/table">
            <a:tbl>
              <a:tblPr>
                <a:tableStyleId>{3C2FFA5D-87B4-456A-9821-1D502468CF0F}</a:tableStyleId>
              </a:tblPr>
              <a:tblGrid>
                <a:gridCol w="1277994">
                  <a:extLst>
                    <a:ext uri="{9D8B030D-6E8A-4147-A177-3AD203B41FA5}">
                      <a16:colId xmlns:a16="http://schemas.microsoft.com/office/drawing/2014/main" val="791757677"/>
                    </a:ext>
                  </a:extLst>
                </a:gridCol>
                <a:gridCol w="1093863">
                  <a:extLst>
                    <a:ext uri="{9D8B030D-6E8A-4147-A177-3AD203B41FA5}">
                      <a16:colId xmlns:a16="http://schemas.microsoft.com/office/drawing/2014/main" val="1077674088"/>
                    </a:ext>
                  </a:extLst>
                </a:gridCol>
                <a:gridCol w="1093863">
                  <a:extLst>
                    <a:ext uri="{9D8B030D-6E8A-4147-A177-3AD203B41FA5}">
                      <a16:colId xmlns:a16="http://schemas.microsoft.com/office/drawing/2014/main" val="2182345985"/>
                    </a:ext>
                  </a:extLst>
                </a:gridCol>
                <a:gridCol w="1093863">
                  <a:extLst>
                    <a:ext uri="{9D8B030D-6E8A-4147-A177-3AD203B41FA5}">
                      <a16:colId xmlns:a16="http://schemas.microsoft.com/office/drawing/2014/main" val="1169153995"/>
                    </a:ext>
                  </a:extLst>
                </a:gridCol>
                <a:gridCol w="1093863">
                  <a:extLst>
                    <a:ext uri="{9D8B030D-6E8A-4147-A177-3AD203B41FA5}">
                      <a16:colId xmlns:a16="http://schemas.microsoft.com/office/drawing/2014/main" val="115786125"/>
                    </a:ext>
                  </a:extLst>
                </a:gridCol>
                <a:gridCol w="1093863">
                  <a:extLst>
                    <a:ext uri="{9D8B030D-6E8A-4147-A177-3AD203B41FA5}">
                      <a16:colId xmlns:a16="http://schemas.microsoft.com/office/drawing/2014/main" val="3288056836"/>
                    </a:ext>
                  </a:extLst>
                </a:gridCol>
                <a:gridCol w="1093863">
                  <a:extLst>
                    <a:ext uri="{9D8B030D-6E8A-4147-A177-3AD203B41FA5}">
                      <a16:colId xmlns:a16="http://schemas.microsoft.com/office/drawing/2014/main" val="2350067466"/>
                    </a:ext>
                  </a:extLst>
                </a:gridCol>
                <a:gridCol w="1093863">
                  <a:extLst>
                    <a:ext uri="{9D8B030D-6E8A-4147-A177-3AD203B41FA5}">
                      <a16:colId xmlns:a16="http://schemas.microsoft.com/office/drawing/2014/main" val="3225644107"/>
                    </a:ext>
                  </a:extLst>
                </a:gridCol>
                <a:gridCol w="1359339">
                  <a:extLst>
                    <a:ext uri="{9D8B030D-6E8A-4147-A177-3AD203B41FA5}">
                      <a16:colId xmlns:a16="http://schemas.microsoft.com/office/drawing/2014/main" val="930989506"/>
                    </a:ext>
                  </a:extLst>
                </a:gridCol>
              </a:tblGrid>
              <a:tr h="592176">
                <a:tc>
                  <a:txBody>
                    <a:bodyPr/>
                    <a:lstStyle/>
                    <a:p>
                      <a:pPr>
                        <a:buNone/>
                      </a:pPr>
                      <a:r>
                        <a:rPr lang="en-IN" sz="1400" b="1" dirty="0">
                          <a:latin typeface="Times New Roman" panose="02020603050405020304" pitchFamily="18" charset="0"/>
                          <a:cs typeface="Times New Roman" panose="02020603050405020304" pitchFamily="18" charset="0"/>
                        </a:rPr>
                        <a:t>Model</a:t>
                      </a:r>
                    </a:p>
                  </a:txBody>
                  <a:tcPr marL="34968" marR="34968" marT="17484" marB="17484" anchor="ctr"/>
                </a:tc>
                <a:tc>
                  <a:txBody>
                    <a:bodyPr/>
                    <a:lstStyle/>
                    <a:p>
                      <a:pPr>
                        <a:buNone/>
                      </a:pPr>
                      <a:r>
                        <a:rPr lang="en-IN" sz="1400" b="1" dirty="0">
                          <a:latin typeface="Times New Roman" panose="02020603050405020304" pitchFamily="18" charset="0"/>
                          <a:cs typeface="Times New Roman" panose="02020603050405020304" pitchFamily="18" charset="0"/>
                        </a:rPr>
                        <a:t>Accuracy</a:t>
                      </a:r>
                    </a:p>
                  </a:txBody>
                  <a:tcPr marL="34968" marR="34968" marT="17484" marB="17484" anchor="ctr"/>
                </a:tc>
                <a:tc>
                  <a:txBody>
                    <a:bodyPr/>
                    <a:lstStyle/>
                    <a:p>
                      <a:pPr>
                        <a:buNone/>
                      </a:pPr>
                      <a:r>
                        <a:rPr lang="en-IN" sz="1400" b="1">
                          <a:latin typeface="Times New Roman" panose="02020603050405020304" pitchFamily="18" charset="0"/>
                          <a:cs typeface="Times New Roman" panose="02020603050405020304" pitchFamily="18" charset="0"/>
                        </a:rPr>
                        <a:t>F1-Score (Weighted)</a:t>
                      </a:r>
                    </a:p>
                  </a:txBody>
                  <a:tcPr marL="34968" marR="34968" marT="17484" marB="17484" anchor="ctr"/>
                </a:tc>
                <a:tc>
                  <a:txBody>
                    <a:bodyPr/>
                    <a:lstStyle/>
                    <a:p>
                      <a:pPr>
                        <a:buNone/>
                      </a:pPr>
                      <a:r>
                        <a:rPr lang="en-IN" sz="1400" b="1">
                          <a:latin typeface="Times New Roman" panose="02020603050405020304" pitchFamily="18" charset="0"/>
                          <a:cs typeface="Times New Roman" panose="02020603050405020304" pitchFamily="18" charset="0"/>
                        </a:rPr>
                        <a:t>F1 (Toxic)</a:t>
                      </a:r>
                    </a:p>
                  </a:txBody>
                  <a:tcPr marL="34968" marR="34968" marT="17484" marB="17484" anchor="ctr"/>
                </a:tc>
                <a:tc>
                  <a:txBody>
                    <a:bodyPr/>
                    <a:lstStyle/>
                    <a:p>
                      <a:pPr>
                        <a:buNone/>
                      </a:pPr>
                      <a:r>
                        <a:rPr lang="en-IN" sz="1400" b="1">
                          <a:latin typeface="Times New Roman" panose="02020603050405020304" pitchFamily="18" charset="0"/>
                          <a:cs typeface="Times New Roman" panose="02020603050405020304" pitchFamily="18" charset="0"/>
                        </a:rPr>
                        <a:t>Toxic Recall</a:t>
                      </a:r>
                    </a:p>
                  </a:txBody>
                  <a:tcPr marL="34968" marR="34968" marT="17484" marB="17484" anchor="ctr"/>
                </a:tc>
                <a:tc>
                  <a:txBody>
                    <a:bodyPr/>
                    <a:lstStyle/>
                    <a:p>
                      <a:pPr>
                        <a:buNone/>
                      </a:pPr>
                      <a:r>
                        <a:rPr lang="en-IN" sz="1400" b="1">
                          <a:latin typeface="Times New Roman" panose="02020603050405020304" pitchFamily="18" charset="0"/>
                          <a:cs typeface="Times New Roman" panose="02020603050405020304" pitchFamily="18" charset="0"/>
                        </a:rPr>
                        <a:t>Toxic Precision</a:t>
                      </a:r>
                    </a:p>
                  </a:txBody>
                  <a:tcPr marL="34968" marR="34968" marT="17484" marB="17484" anchor="ctr"/>
                </a:tc>
                <a:tc>
                  <a:txBody>
                    <a:bodyPr/>
                    <a:lstStyle/>
                    <a:p>
                      <a:pPr>
                        <a:buNone/>
                      </a:pPr>
                      <a:r>
                        <a:rPr lang="en-IN" sz="1400" b="1">
                          <a:latin typeface="Times New Roman" panose="02020603050405020304" pitchFamily="18" charset="0"/>
                          <a:cs typeface="Times New Roman" panose="02020603050405020304" pitchFamily="18" charset="0"/>
                        </a:rPr>
                        <a:t>ROC-AUC</a:t>
                      </a:r>
                    </a:p>
                  </a:txBody>
                  <a:tcPr marL="34968" marR="34968" marT="17484" marB="17484" anchor="ctr"/>
                </a:tc>
                <a:tc>
                  <a:txBody>
                    <a:bodyPr/>
                    <a:lstStyle/>
                    <a:p>
                      <a:pPr>
                        <a:buNone/>
                      </a:pPr>
                      <a:r>
                        <a:rPr lang="en-IN" sz="1400" b="1">
                          <a:latin typeface="Times New Roman" panose="02020603050405020304" pitchFamily="18" charset="0"/>
                          <a:cs typeface="Times New Roman" panose="02020603050405020304" pitchFamily="18" charset="0"/>
                        </a:rPr>
                        <a:t>Training Time</a:t>
                      </a:r>
                    </a:p>
                  </a:txBody>
                  <a:tcPr marL="34968" marR="34968" marT="17484" marB="17484" anchor="ctr"/>
                </a:tc>
                <a:tc>
                  <a:txBody>
                    <a:bodyPr/>
                    <a:lstStyle/>
                    <a:p>
                      <a:pPr>
                        <a:buNone/>
                      </a:pPr>
                      <a:r>
                        <a:rPr lang="en-IN" sz="1400" b="1" dirty="0">
                          <a:latin typeface="Times New Roman" panose="02020603050405020304" pitchFamily="18" charset="0"/>
                          <a:cs typeface="Times New Roman" panose="02020603050405020304" pitchFamily="18" charset="0"/>
                        </a:rPr>
                        <a:t>Inference Speed</a:t>
                      </a:r>
                    </a:p>
                  </a:txBody>
                  <a:tcPr marL="34968" marR="34968" marT="17484" marB="17484" anchor="ctr"/>
                </a:tc>
                <a:extLst>
                  <a:ext uri="{0D108BD9-81ED-4DB2-BD59-A6C34878D82A}">
                    <a16:rowId xmlns:a16="http://schemas.microsoft.com/office/drawing/2014/main" val="1876547083"/>
                  </a:ext>
                </a:extLst>
              </a:tr>
              <a:tr h="576221">
                <a:tc>
                  <a:txBody>
                    <a:bodyPr/>
                    <a:lstStyle/>
                    <a:p>
                      <a:pPr>
                        <a:buNone/>
                      </a:pPr>
                      <a:r>
                        <a:rPr lang="en-IN" sz="1200" dirty="0">
                          <a:latin typeface="Times New Roman" panose="02020603050405020304" pitchFamily="18" charset="0"/>
                          <a:cs typeface="Times New Roman" panose="02020603050405020304" pitchFamily="18" charset="0"/>
                        </a:rPr>
                        <a:t>Ensemble of </a:t>
                      </a:r>
                      <a:r>
                        <a:rPr lang="en-IN" sz="1200" dirty="0" err="1">
                          <a:latin typeface="Times New Roman" panose="02020603050405020304" pitchFamily="18" charset="0"/>
                          <a:cs typeface="Times New Roman" panose="02020603050405020304" pitchFamily="18" charset="0"/>
                        </a:rPr>
                        <a:t>Distilbert</a:t>
                      </a:r>
                      <a:r>
                        <a:rPr lang="en-IN" sz="1200" dirty="0">
                          <a:latin typeface="Times New Roman" panose="02020603050405020304" pitchFamily="18" charset="0"/>
                          <a:cs typeface="Times New Roman" panose="02020603050405020304" pitchFamily="18" charset="0"/>
                        </a:rPr>
                        <a:t> and CNN-GRU</a:t>
                      </a:r>
                    </a:p>
                  </a:txBody>
                  <a:tcPr marL="34968" marR="34968" marT="17484" marB="1748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Times New Roman" panose="02020603050405020304" pitchFamily="18" charset="0"/>
                          <a:ea typeface="+mn-ea"/>
                          <a:cs typeface="Times New Roman" panose="02020603050405020304" pitchFamily="18" charset="0"/>
                        </a:rPr>
                        <a:t>92.79</a:t>
                      </a:r>
                    </a:p>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Times New Roman" panose="02020603050405020304" pitchFamily="18" charset="0"/>
                          <a:ea typeface="+mn-ea"/>
                          <a:cs typeface="Times New Roman" panose="02020603050405020304" pitchFamily="18" charset="0"/>
                        </a:rPr>
                        <a:t> 0.9274</a:t>
                      </a:r>
                    </a:p>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Times New Roman" panose="02020603050405020304" pitchFamily="18" charset="0"/>
                          <a:ea typeface="+mn-ea"/>
                          <a:cs typeface="Times New Roman" panose="02020603050405020304" pitchFamily="18" charset="0"/>
                        </a:rPr>
                        <a:t>0.8267</a:t>
                      </a:r>
                    </a:p>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Times New Roman" panose="02020603050405020304" pitchFamily="18" charset="0"/>
                          <a:ea typeface="+mn-ea"/>
                          <a:cs typeface="Times New Roman" panose="02020603050405020304" pitchFamily="18" charset="0"/>
                        </a:rPr>
                        <a:t>0.8121</a:t>
                      </a:r>
                    </a:p>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Times New Roman" panose="02020603050405020304" pitchFamily="18" charset="0"/>
                          <a:ea typeface="+mn-ea"/>
                          <a:cs typeface="Times New Roman" panose="02020603050405020304" pitchFamily="18" charset="0"/>
                        </a:rPr>
                        <a:t>0.8419</a:t>
                      </a:r>
                    </a:p>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latin typeface="Times New Roman" panose="02020603050405020304" pitchFamily="18" charset="0"/>
                          <a:ea typeface="+mn-ea"/>
                          <a:cs typeface="Times New Roman" panose="02020603050405020304" pitchFamily="18" charset="0"/>
                        </a:rPr>
                        <a:t>0.9704 </a:t>
                      </a:r>
                    </a:p>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a:buNone/>
                      </a:pP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86 samp/s</a:t>
                      </a:r>
                    </a:p>
                  </a:txBody>
                  <a:tcPr marL="34968" marR="34968" marT="17484" marB="17484" anchor="ctr"/>
                </a:tc>
                <a:extLst>
                  <a:ext uri="{0D108BD9-81ED-4DB2-BD59-A6C34878D82A}">
                    <a16:rowId xmlns:a16="http://schemas.microsoft.com/office/drawing/2014/main" val="28721556"/>
                  </a:ext>
                </a:extLst>
              </a:tr>
              <a:tr h="295458">
                <a:tc>
                  <a:txBody>
                    <a:bodyPr/>
                    <a:lstStyle/>
                    <a:p>
                      <a:pPr>
                        <a:buNone/>
                      </a:pPr>
                      <a:r>
                        <a:rPr lang="en-IN" sz="1200" dirty="0" err="1">
                          <a:latin typeface="Times New Roman" panose="02020603050405020304" pitchFamily="18" charset="0"/>
                          <a:cs typeface="Times New Roman" panose="02020603050405020304" pitchFamily="18" charset="0"/>
                        </a:rPr>
                        <a:t>DistilBERT</a:t>
                      </a:r>
                      <a:endParaRPr lang="en-IN" sz="1200" dirty="0">
                        <a:latin typeface="Times New Roman" panose="02020603050405020304" pitchFamily="18" charset="0"/>
                        <a:cs typeface="Times New Roman" panose="02020603050405020304" pitchFamily="18" charset="0"/>
                      </a:endParaRP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90.47%</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90.40%</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77.10%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75.74%</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78.51%</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95.29%</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283.7 min</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86 samp/s</a:t>
                      </a:r>
                    </a:p>
                  </a:txBody>
                  <a:tcPr marL="34968" marR="34968" marT="17484" marB="17484" anchor="ctr"/>
                </a:tc>
                <a:extLst>
                  <a:ext uri="{0D108BD9-81ED-4DB2-BD59-A6C34878D82A}">
                    <a16:rowId xmlns:a16="http://schemas.microsoft.com/office/drawing/2014/main" val="1727881126"/>
                  </a:ext>
                </a:extLst>
              </a:tr>
              <a:tr h="421176">
                <a:tc>
                  <a:txBody>
                    <a:bodyPr/>
                    <a:lstStyle/>
                    <a:p>
                      <a:pPr>
                        <a:buNone/>
                      </a:pPr>
                      <a:r>
                        <a:rPr lang="en-IN" sz="1200" dirty="0">
                          <a:latin typeface="Times New Roman" panose="02020603050405020304" pitchFamily="18" charset="0"/>
                          <a:cs typeface="Times New Roman" panose="02020603050405020304" pitchFamily="18" charset="0"/>
                        </a:rPr>
                        <a:t>CNN-GRU</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87.35%</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87.68%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72.40%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64%</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82%</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92.96%</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19.8 min</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20,920 samp/s</a:t>
                      </a:r>
                    </a:p>
                  </a:txBody>
                  <a:tcPr marL="34968" marR="34968" marT="17484" marB="17484" anchor="ctr"/>
                </a:tc>
                <a:extLst>
                  <a:ext uri="{0D108BD9-81ED-4DB2-BD59-A6C34878D82A}">
                    <a16:rowId xmlns:a16="http://schemas.microsoft.com/office/drawing/2014/main" val="4276829731"/>
                  </a:ext>
                </a:extLst>
              </a:tr>
              <a:tr h="422385">
                <a:tc>
                  <a:txBody>
                    <a:bodyPr/>
                    <a:lstStyle/>
                    <a:p>
                      <a:pPr>
                        <a:buNone/>
                      </a:pPr>
                      <a:r>
                        <a:rPr lang="en-IN" sz="1200">
                          <a:latin typeface="Times New Roman" panose="02020603050405020304" pitchFamily="18" charset="0"/>
                          <a:cs typeface="Times New Roman" panose="02020603050405020304" pitchFamily="18" charset="0"/>
                        </a:rPr>
                        <a:t>Linear SVM</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86.47%</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85.81%</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64.00%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57%</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73%</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90.50%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2-3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50,000+ samp/s</a:t>
                      </a:r>
                    </a:p>
                  </a:txBody>
                  <a:tcPr marL="34968" marR="34968" marT="17484" marB="17484" anchor="ctr"/>
                </a:tc>
                <a:extLst>
                  <a:ext uri="{0D108BD9-81ED-4DB2-BD59-A6C34878D82A}">
                    <a16:rowId xmlns:a16="http://schemas.microsoft.com/office/drawing/2014/main" val="1188540021"/>
                  </a:ext>
                </a:extLst>
              </a:tr>
              <a:tr h="549312">
                <a:tc>
                  <a:txBody>
                    <a:bodyPr/>
                    <a:lstStyle/>
                    <a:p>
                      <a:pPr>
                        <a:buNone/>
                      </a:pPr>
                      <a:r>
                        <a:rPr lang="en-IN" sz="1200">
                          <a:latin typeface="Times New Roman" panose="02020603050405020304" pitchFamily="18" charset="0"/>
                          <a:cs typeface="Times New Roman" panose="02020603050405020304" pitchFamily="18" charset="0"/>
                        </a:rPr>
                        <a:t>Logistic Regression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86.25%</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85.43%</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62.00%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54%</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74%</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90.20%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1-2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60,000+ samp/s</a:t>
                      </a:r>
                    </a:p>
                  </a:txBody>
                  <a:tcPr marL="34968" marR="34968" marT="17484" marB="17484" anchor="ctr"/>
                </a:tc>
                <a:extLst>
                  <a:ext uri="{0D108BD9-81ED-4DB2-BD59-A6C34878D82A}">
                    <a16:rowId xmlns:a16="http://schemas.microsoft.com/office/drawing/2014/main" val="4289477291"/>
                  </a:ext>
                </a:extLst>
              </a:tr>
              <a:tr h="421176">
                <a:tc>
                  <a:txBody>
                    <a:bodyPr/>
                    <a:lstStyle/>
                    <a:p>
                      <a:pPr>
                        <a:buNone/>
                      </a:pPr>
                      <a:r>
                        <a:rPr lang="en-IN" sz="1200">
                          <a:latin typeface="Times New Roman" panose="02020603050405020304" pitchFamily="18" charset="0"/>
                          <a:cs typeface="Times New Roman" panose="02020603050405020304" pitchFamily="18" charset="0"/>
                        </a:rPr>
                        <a:t>GPU CNN</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85.88%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86.48%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70.88%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63%</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92.50%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10.9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11,224 samp/s</a:t>
                      </a:r>
                    </a:p>
                  </a:txBody>
                  <a:tcPr marL="34968" marR="34968" marT="17484" marB="17484" anchor="ctr"/>
                </a:tc>
                <a:extLst>
                  <a:ext uri="{0D108BD9-81ED-4DB2-BD59-A6C34878D82A}">
                    <a16:rowId xmlns:a16="http://schemas.microsoft.com/office/drawing/2014/main" val="1158645048"/>
                  </a:ext>
                </a:extLst>
              </a:tr>
              <a:tr h="422385">
                <a:tc>
                  <a:txBody>
                    <a:bodyPr/>
                    <a:lstStyle/>
                    <a:p>
                      <a:pPr>
                        <a:buNone/>
                      </a:pPr>
                      <a:r>
                        <a:rPr lang="en-IN" sz="1200">
                          <a:latin typeface="Times New Roman" panose="02020603050405020304" pitchFamily="18" charset="0"/>
                          <a:cs typeface="Times New Roman" panose="02020603050405020304" pitchFamily="18" charset="0"/>
                        </a:rPr>
                        <a:t>LightGBM</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85.19%</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83.88%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58.00%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47%</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74%</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89.80%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3-5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30,000+ samp/s</a:t>
                      </a:r>
                    </a:p>
                  </a:txBody>
                  <a:tcPr marL="34968" marR="34968" marT="17484" marB="17484" anchor="ctr"/>
                </a:tc>
                <a:extLst>
                  <a:ext uri="{0D108BD9-81ED-4DB2-BD59-A6C34878D82A}">
                    <a16:rowId xmlns:a16="http://schemas.microsoft.com/office/drawing/2014/main" val="1878063509"/>
                  </a:ext>
                </a:extLst>
              </a:tr>
              <a:tr h="422385">
                <a:tc>
                  <a:txBody>
                    <a:bodyPr/>
                    <a:lstStyle/>
                    <a:p>
                      <a:pPr>
                        <a:buNone/>
                      </a:pPr>
                      <a:r>
                        <a:rPr lang="en-IN" sz="1200">
                          <a:latin typeface="Times New Roman" panose="02020603050405020304" pitchFamily="18" charset="0"/>
                          <a:cs typeface="Times New Roman" panose="02020603050405020304" pitchFamily="18" charset="0"/>
                        </a:rPr>
                        <a:t>XGBoost</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85.17%</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83.52%</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56.00%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43%</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76%</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89.50%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5-8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25,000+ samp/s</a:t>
                      </a:r>
                    </a:p>
                  </a:txBody>
                  <a:tcPr marL="34968" marR="34968" marT="17484" marB="17484" anchor="ctr"/>
                </a:tc>
                <a:extLst>
                  <a:ext uri="{0D108BD9-81ED-4DB2-BD59-A6C34878D82A}">
                    <a16:rowId xmlns:a16="http://schemas.microsoft.com/office/drawing/2014/main" val="3486014705"/>
                  </a:ext>
                </a:extLst>
              </a:tr>
              <a:tr h="422385">
                <a:tc>
                  <a:txBody>
                    <a:bodyPr/>
                    <a:lstStyle/>
                    <a:p>
                      <a:pPr>
                        <a:buNone/>
                      </a:pPr>
                      <a:r>
                        <a:rPr lang="en-IN" sz="1200">
                          <a:latin typeface="Times New Roman" panose="02020603050405020304" pitchFamily="18" charset="0"/>
                          <a:cs typeface="Times New Roman" panose="02020603050405020304" pitchFamily="18" charset="0"/>
                        </a:rPr>
                        <a:t>Naive Bayes</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83.76%</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83.46%</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60.00%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57%</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63%</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88.00%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&lt;1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80,000+ samp/s</a:t>
                      </a:r>
                    </a:p>
                  </a:txBody>
                  <a:tcPr marL="34968" marR="34968" marT="17484" marB="17484" anchor="ctr"/>
                </a:tc>
                <a:extLst>
                  <a:ext uri="{0D108BD9-81ED-4DB2-BD59-A6C34878D82A}">
                    <a16:rowId xmlns:a16="http://schemas.microsoft.com/office/drawing/2014/main" val="3647325591"/>
                  </a:ext>
                </a:extLst>
              </a:tr>
              <a:tr h="295458">
                <a:tc>
                  <a:txBody>
                    <a:bodyPr/>
                    <a:lstStyle/>
                    <a:p>
                      <a:pPr>
                        <a:buNone/>
                      </a:pPr>
                      <a:r>
                        <a:rPr lang="en-IN" sz="1200">
                          <a:latin typeface="Times New Roman" panose="02020603050405020304" pitchFamily="18" charset="0"/>
                          <a:cs typeface="Times New Roman" panose="02020603050405020304" pitchFamily="18" charset="0"/>
                        </a:rPr>
                        <a:t>LSTM+Attn</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83.60%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84.55%</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68.21%</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91.24%</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141.3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150 samp/s</a:t>
                      </a:r>
                    </a:p>
                  </a:txBody>
                  <a:tcPr marL="34968" marR="34968" marT="17484" marB="17484" anchor="ctr"/>
                </a:tc>
                <a:extLst>
                  <a:ext uri="{0D108BD9-81ED-4DB2-BD59-A6C34878D82A}">
                    <a16:rowId xmlns:a16="http://schemas.microsoft.com/office/drawing/2014/main" val="1647575649"/>
                  </a:ext>
                </a:extLst>
              </a:tr>
              <a:tr h="295458">
                <a:tc>
                  <a:txBody>
                    <a:bodyPr/>
                    <a:lstStyle/>
                    <a:p>
                      <a:pPr>
                        <a:buNone/>
                      </a:pPr>
                      <a:r>
                        <a:rPr lang="en-IN" sz="1200">
                          <a:latin typeface="Times New Roman" panose="02020603050405020304" pitchFamily="18" charset="0"/>
                          <a:cs typeface="Times New Roman" panose="02020603050405020304" pitchFamily="18" charset="0"/>
                        </a:rPr>
                        <a:t>ToxicBERT</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83.20%</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83.65%</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63.37%</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56%</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72%</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87.51%</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250+ min</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86 samp/s</a:t>
                      </a:r>
                    </a:p>
                  </a:txBody>
                  <a:tcPr marL="34968" marR="34968" marT="17484" marB="17484" anchor="ctr"/>
                </a:tc>
                <a:extLst>
                  <a:ext uri="{0D108BD9-81ED-4DB2-BD59-A6C34878D82A}">
                    <a16:rowId xmlns:a16="http://schemas.microsoft.com/office/drawing/2014/main" val="2251837324"/>
                  </a:ext>
                </a:extLst>
              </a:tr>
              <a:tr h="232439">
                <a:tc>
                  <a:txBody>
                    <a:bodyPr/>
                    <a:lstStyle/>
                    <a:p>
                      <a:pPr>
                        <a:buNone/>
                      </a:pPr>
                      <a:r>
                        <a:rPr lang="en-IN" sz="1200">
                          <a:latin typeface="Times New Roman" panose="02020603050405020304" pitchFamily="18" charset="0"/>
                          <a:cs typeface="Times New Roman" panose="02020603050405020304" pitchFamily="18" charset="0"/>
                        </a:rPr>
                        <a:t>TextCNN (GloVe)</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81.12%</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82.58%</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66.86%</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59%</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76%</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92.33%</a:t>
                      </a:r>
                    </a:p>
                  </a:txBody>
                  <a:tcPr marL="34968" marR="34968" marT="17484" marB="17484" anchor="ctr"/>
                </a:tc>
                <a:tc>
                  <a:txBody>
                    <a:bodyPr/>
                    <a:lstStyle/>
                    <a:p>
                      <a:pPr>
                        <a:buNone/>
                      </a:pPr>
                      <a:r>
                        <a:rPr lang="en-IN" sz="1200">
                          <a:latin typeface="Times New Roman" panose="02020603050405020304" pitchFamily="18" charset="0"/>
                          <a:cs typeface="Times New Roman" panose="02020603050405020304" pitchFamily="18" charset="0"/>
                        </a:rPr>
                        <a:t>10.2 min</a:t>
                      </a:r>
                    </a:p>
                  </a:txBody>
                  <a:tcPr marL="34968" marR="34968" marT="17484" marB="17484" anchor="ctr"/>
                </a:tc>
                <a:tc>
                  <a:txBody>
                    <a:bodyPr/>
                    <a:lstStyle/>
                    <a:p>
                      <a:pPr>
                        <a:buNone/>
                      </a:pPr>
                      <a:r>
                        <a:rPr lang="en-IN" sz="1200" dirty="0">
                          <a:latin typeface="Times New Roman" panose="02020603050405020304" pitchFamily="18" charset="0"/>
                          <a:cs typeface="Times New Roman" panose="02020603050405020304" pitchFamily="18" charset="0"/>
                        </a:rPr>
                        <a:t>9,387 samp/s</a:t>
                      </a:r>
                    </a:p>
                  </a:txBody>
                  <a:tcPr marL="34968" marR="34968" marT="17484" marB="17484" anchor="ctr"/>
                </a:tc>
                <a:extLst>
                  <a:ext uri="{0D108BD9-81ED-4DB2-BD59-A6C34878D82A}">
                    <a16:rowId xmlns:a16="http://schemas.microsoft.com/office/drawing/2014/main" val="591679335"/>
                  </a:ext>
                </a:extLst>
              </a:tr>
            </a:tbl>
          </a:graphicData>
        </a:graphic>
      </p:graphicFrame>
    </p:spTree>
    <p:extLst>
      <p:ext uri="{BB962C8B-B14F-4D97-AF65-F5344CB8AC3E}">
        <p14:creationId xmlns:p14="http://schemas.microsoft.com/office/powerpoint/2010/main" val="3791480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434" y="723900"/>
            <a:ext cx="8596668" cy="962025"/>
          </a:xfrm>
        </p:spPr>
        <p:txBody>
          <a:bodyPr>
            <a:normAutofit/>
          </a:bodyPr>
          <a:lstStyle/>
          <a:p>
            <a:r>
              <a:rPr sz="3270"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096434" y="1774372"/>
            <a:ext cx="7870371" cy="4266992"/>
          </a:xfrm>
        </p:spPr>
        <p:txBody>
          <a:bodyPr/>
          <a:lstStyle/>
          <a:p>
            <a:pPr marL="0" indent="0">
              <a:buNone/>
            </a:pPr>
            <a:r>
              <a:rPr dirty="0">
                <a:solidFill>
                  <a:schemeClr val="tx1"/>
                </a:solidFill>
                <a:latin typeface="Times New Roman" panose="02020603050405020304" pitchFamily="18" charset="0"/>
                <a:cs typeface="Times New Roman" panose="02020603050405020304" pitchFamily="18" charset="0"/>
              </a:rPr>
              <a:t>The project delivers a powerful solution combining NLP and AI to foster safe digital conversations. Its real-time filtering, slang replacement</a:t>
            </a:r>
            <a:r>
              <a:rPr lang="en-IN" dirty="0">
                <a:solidFill>
                  <a:schemeClr val="tx1"/>
                </a:solidFill>
                <a:latin typeface="Times New Roman" panose="02020603050405020304" pitchFamily="18" charset="0"/>
                <a:cs typeface="Times New Roman" panose="02020603050405020304" pitchFamily="18" charset="0"/>
              </a:rPr>
              <a:t> </a:t>
            </a:r>
            <a:r>
              <a:rPr dirty="0">
                <a:solidFill>
                  <a:schemeClr val="tx1"/>
                </a:solidFill>
                <a:latin typeface="Times New Roman" panose="02020603050405020304" pitchFamily="18" charset="0"/>
                <a:cs typeface="Times New Roman" panose="02020603050405020304" pitchFamily="18" charset="0"/>
              </a:rPr>
              <a:t>features offer enhanced communication for users in professional and educational </a:t>
            </a:r>
            <a:r>
              <a:rPr dirty="0" err="1">
                <a:solidFill>
                  <a:schemeClr val="tx1"/>
                </a:solidFill>
                <a:latin typeface="Times New Roman" panose="02020603050405020304" pitchFamily="18" charset="0"/>
                <a:cs typeface="Times New Roman" panose="02020603050405020304" pitchFamily="18" charset="0"/>
              </a:rPr>
              <a:t>doma</a:t>
            </a:r>
            <a:r>
              <a:rPr lang="en-IN" dirty="0" err="1">
                <a:solidFill>
                  <a:schemeClr val="tx1"/>
                </a:solidFill>
                <a:latin typeface="Times New Roman" panose="02020603050405020304" pitchFamily="18" charset="0"/>
                <a:cs typeface="Times New Roman" panose="02020603050405020304" pitchFamily="18" charset="0"/>
              </a:rPr>
              <a:t>ins.x</a:t>
            </a: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4100-0552-C677-1990-6D0957A66484}"/>
              </a:ext>
            </a:extLst>
          </p:cNvPr>
          <p:cNvSpPr>
            <a:spLocks noGrp="1"/>
          </p:cNvSpPr>
          <p:nvPr>
            <p:ph type="title"/>
          </p:nvPr>
        </p:nvSpPr>
        <p:spPr>
          <a:xfrm>
            <a:off x="1323976" y="533401"/>
            <a:ext cx="6347713" cy="718457"/>
          </a:xfrm>
        </p:spPr>
        <p:txBody>
          <a:bodyPr/>
          <a:lstStyle/>
          <a:p>
            <a:pPr>
              <a:spcBef>
                <a:spcPts val="0"/>
              </a:spcBef>
              <a:defRPr/>
            </a:pPr>
            <a:r>
              <a:rPr lang="en-IN" altLang="en-US"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a:t>
            </a:r>
          </a:p>
        </p:txBody>
      </p:sp>
      <p:sp>
        <p:nvSpPr>
          <p:cNvPr id="3" name="Content Placeholder 2">
            <a:extLst>
              <a:ext uri="{FF2B5EF4-FFF2-40B4-BE49-F238E27FC236}">
                <a16:creationId xmlns:a16="http://schemas.microsoft.com/office/drawing/2014/main" id="{3E32307B-5C7D-0E8E-405F-013681CB45B0}"/>
              </a:ext>
            </a:extLst>
          </p:cNvPr>
          <p:cNvSpPr>
            <a:spLocks noGrp="1"/>
          </p:cNvSpPr>
          <p:nvPr>
            <p:ph idx="1"/>
          </p:nvPr>
        </p:nvSpPr>
        <p:spPr>
          <a:xfrm>
            <a:off x="1323976" y="1562100"/>
            <a:ext cx="7543800" cy="4963886"/>
          </a:xfrm>
        </p:spPr>
        <p:txBody>
          <a:bodyPr>
            <a:noAutofit/>
          </a:bodyPr>
          <a:lstStyle/>
          <a:p>
            <a:pPr marL="0" indent="0">
              <a:buNone/>
            </a:pPr>
            <a:r>
              <a:rPr lang="en-IN" dirty="0">
                <a:solidFill>
                  <a:schemeClr val="tx1"/>
                </a:solidFill>
                <a:latin typeface="Times New Roman" panose="02020603050405020304" pitchFamily="18" charset="0"/>
                <a:cs typeface="Times New Roman" panose="02020603050405020304" pitchFamily="18" charset="0"/>
              </a:rPr>
              <a:t>[1] J. S. J, P. K, H. N. M, H. JS, H. A and T. S, "Analysis of Behavior in Chat Applications using Natural Language Processing," </a:t>
            </a:r>
            <a:r>
              <a:rPr lang="en-IN" i="1" dirty="0">
                <a:solidFill>
                  <a:schemeClr val="tx1"/>
                </a:solidFill>
                <a:latin typeface="Times New Roman" panose="02020603050405020304" pitchFamily="18" charset="0"/>
                <a:cs typeface="Times New Roman" panose="02020603050405020304" pitchFamily="18" charset="0"/>
              </a:rPr>
              <a:t>2024 2nd International Conference on Sustainable Computing and Smart Systems (ICSCSS)</a:t>
            </a:r>
            <a:r>
              <a:rPr lang="en-IN" dirty="0">
                <a:solidFill>
                  <a:schemeClr val="tx1"/>
                </a:solidFill>
                <a:latin typeface="Times New Roman" panose="02020603050405020304" pitchFamily="18" charset="0"/>
                <a:cs typeface="Times New Roman" panose="02020603050405020304" pitchFamily="18" charset="0"/>
              </a:rPr>
              <a:t>, Coimbatore, India.</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[2] Y. A. Rani, A. Balaram, M. R. Sirisha, S. A. Nabi, P. Renuka and A. Kiran, "AI Enhanced Customer Service Chatbot," </a:t>
            </a:r>
            <a:r>
              <a:rPr lang="en-IN" i="1" dirty="0">
                <a:solidFill>
                  <a:schemeClr val="tx1"/>
                </a:solidFill>
                <a:latin typeface="Times New Roman" panose="02020603050405020304" pitchFamily="18" charset="0"/>
                <a:cs typeface="Times New Roman" panose="02020603050405020304" pitchFamily="18" charset="0"/>
              </a:rPr>
              <a:t>2024 International Conference on Science Technology Engineering and Management (ICSTEM)</a:t>
            </a:r>
            <a:r>
              <a:rPr lang="en-IN" dirty="0">
                <a:solidFill>
                  <a:schemeClr val="tx1"/>
                </a:solidFill>
                <a:latin typeface="Times New Roman" panose="02020603050405020304" pitchFamily="18" charset="0"/>
                <a:cs typeface="Times New Roman" panose="02020603050405020304" pitchFamily="18" charset="0"/>
              </a:rPr>
              <a:t>, Coimbatore, India.</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[3] G. J. Babu, S. Safrinfathima, K. D. Reddy and S. K. Sen, "Transforming Human-Machine Interaction: Generative AI Virtual Asst," </a:t>
            </a:r>
            <a:r>
              <a:rPr lang="en-IN" i="1" dirty="0">
                <a:solidFill>
                  <a:schemeClr val="tx1"/>
                </a:solidFill>
                <a:latin typeface="Times New Roman" panose="02020603050405020304" pitchFamily="18" charset="0"/>
                <a:cs typeface="Times New Roman" panose="02020603050405020304" pitchFamily="18" charset="0"/>
              </a:rPr>
              <a:t>2024 International Conference on Knowledge Engineering and Communication Systems (ICKECS)</a:t>
            </a:r>
            <a:r>
              <a:rPr lang="en-IN" dirty="0">
                <a:solidFill>
                  <a:schemeClr val="tx1"/>
                </a:solidFill>
                <a:latin typeface="Times New Roman" panose="02020603050405020304" pitchFamily="18" charset="0"/>
                <a:cs typeface="Times New Roman" panose="02020603050405020304" pitchFamily="18" charset="0"/>
              </a:rPr>
              <a:t>, Chikkaballapur, India.</a:t>
            </a:r>
            <a:br>
              <a:rPr lang="en-IN" dirty="0">
                <a:solidFill>
                  <a:schemeClr val="tx1"/>
                </a:solidFill>
                <a:latin typeface="Times New Roman" panose="02020603050405020304" pitchFamily="18" charset="0"/>
                <a:cs typeface="Times New Roman" panose="02020603050405020304" pitchFamily="18" charset="0"/>
              </a:rPr>
            </a:br>
            <a:r>
              <a:rPr lang="en-IN" dirty="0">
                <a:solidFill>
                  <a:schemeClr val="tx1"/>
                </a:solidFill>
                <a:latin typeface="Times New Roman" panose="02020603050405020304" pitchFamily="18" charset="0"/>
                <a:cs typeface="Times New Roman" panose="02020603050405020304" pitchFamily="18" charset="0"/>
              </a:rPr>
              <a:t>[4] A. A B and P. Prithvi, "Automated Toxic Chat Synthesis, Reporting and Removing the Chat in Telegram Social Media Using Natural Language Processing Techniques," </a:t>
            </a:r>
            <a:r>
              <a:rPr lang="en-IN" i="1" dirty="0">
                <a:solidFill>
                  <a:schemeClr val="tx1"/>
                </a:solidFill>
                <a:latin typeface="Times New Roman" panose="02020603050405020304" pitchFamily="18" charset="0"/>
                <a:cs typeface="Times New Roman" panose="02020603050405020304" pitchFamily="18" charset="0"/>
              </a:rPr>
              <a:t>2024 Fourth International Conference on Advances in Electrical, Computing, Communication and Sustainable Technologies (ICAECT)</a:t>
            </a:r>
            <a:r>
              <a:rPr lang="en-IN" dirty="0">
                <a:solidFill>
                  <a:schemeClr val="tx1"/>
                </a:solidFill>
                <a:latin typeface="Times New Roman" panose="02020603050405020304" pitchFamily="18" charset="0"/>
                <a:cs typeface="Times New Roman" panose="02020603050405020304" pitchFamily="18" charset="0"/>
              </a:rPr>
              <a:t>, Bhilai, India.</a:t>
            </a: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4012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3517B7-4666-CAC9-6E45-C174B6212D41}"/>
              </a:ext>
            </a:extLst>
          </p:cNvPr>
          <p:cNvSpPr txBox="1"/>
          <p:nvPr/>
        </p:nvSpPr>
        <p:spPr>
          <a:xfrm>
            <a:off x="1249136" y="642257"/>
            <a:ext cx="8240485" cy="5909310"/>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[5] S. Tirpude, Y. Thakre, S. Sudan, S. Agrawal and A. Ganorkar, "Mining Comments and Sentiments in YouTube Live Chat Data," 2024 4th International Conference on Intelligent Technologies (CONIT), Bangalore,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[6] G. A, M. D. C, S. r. S J, P. P, A. M and S. A, "Voice Assistant with AI Chat Integration using OpenAI," 2024 Third International Conference on Intelligent Techniques in Control, Optimization and Signal Processing (INCOS), Krishnankoil, Virudhunagar district, Tamil Nadu, India.</a:t>
            </a:r>
          </a:p>
          <a:p>
            <a:r>
              <a:rPr lang="en-IN" dirty="0">
                <a:latin typeface="Times New Roman" panose="02020603050405020304" pitchFamily="18" charset="0"/>
                <a:cs typeface="Times New Roman" panose="02020603050405020304" pitchFamily="18" charset="0"/>
              </a:rPr>
              <a:t>[7] M. Alkhyeli, S. Alkhyeli, K. Aldhaheri and H. Lamaazi, "Secure Chat Room Application Using AES-GCM Encryption and SHA-256," </a:t>
            </a:r>
            <a:r>
              <a:rPr lang="en-IN" i="1" dirty="0">
                <a:latin typeface="Times New Roman" panose="02020603050405020304" pitchFamily="18" charset="0"/>
                <a:cs typeface="Times New Roman" panose="02020603050405020304" pitchFamily="18" charset="0"/>
              </a:rPr>
              <a:t>2023 15th International Conference on Innovations in Information Technology (IIT)</a:t>
            </a:r>
            <a:r>
              <a:rPr lang="en-IN" dirty="0">
                <a:latin typeface="Times New Roman" panose="02020603050405020304" pitchFamily="18" charset="0"/>
                <a:cs typeface="Times New Roman" panose="02020603050405020304" pitchFamily="18" charset="0"/>
              </a:rPr>
              <a:t>, Al Ain, United Arab Emirates.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[8] M. Thenmozhi, K. P. R. Rohit, A. S and S. Chakkravarthi D, "Chat Master Using DJANGO," </a:t>
            </a:r>
            <a:r>
              <a:rPr lang="en-IN" i="1" dirty="0">
                <a:latin typeface="Times New Roman" panose="02020603050405020304" pitchFamily="18" charset="0"/>
                <a:cs typeface="Times New Roman" panose="02020603050405020304" pitchFamily="18" charset="0"/>
              </a:rPr>
              <a:t>2023 IEEE Engineering Informatics</a:t>
            </a:r>
            <a:r>
              <a:rPr lang="en-IN" dirty="0">
                <a:latin typeface="Times New Roman" panose="02020603050405020304" pitchFamily="18" charset="0"/>
                <a:cs typeface="Times New Roman" panose="02020603050405020304" pitchFamily="18" charset="0"/>
              </a:rPr>
              <a:t>, Melbourne, Australia.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[9] S. Singh, S. Singh and A. Sharma, "Real-Time Secure Web-Based Chat Application using Django," </a:t>
            </a:r>
            <a:r>
              <a:rPr lang="en-IN" i="1" dirty="0">
                <a:latin typeface="Times New Roman" panose="02020603050405020304" pitchFamily="18" charset="0"/>
                <a:cs typeface="Times New Roman" panose="02020603050405020304" pitchFamily="18" charset="0"/>
              </a:rPr>
              <a:t>2023 5th International Conference on Advances in Computing, Communication Control and Networking (ICAC3N)</a:t>
            </a:r>
            <a:r>
              <a:rPr lang="en-IN" dirty="0">
                <a:latin typeface="Times New Roman" panose="02020603050405020304" pitchFamily="18" charset="0"/>
                <a:cs typeface="Times New Roman" panose="02020603050405020304" pitchFamily="18" charset="0"/>
              </a:rPr>
              <a:t>, Greater Noida,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[10] A. Anand, R. Subha, S. Rajan, N. Bharathi and A. K. Srivastava, "An Efficient, Precise and User Friendly AI based Virtual Assistant," </a:t>
            </a:r>
            <a:r>
              <a:rPr lang="en-IN" i="1" dirty="0">
                <a:latin typeface="Times New Roman" panose="02020603050405020304" pitchFamily="18" charset="0"/>
                <a:cs typeface="Times New Roman" panose="02020603050405020304" pitchFamily="18" charset="0"/>
              </a:rPr>
              <a:t>2023 International Conference on the Confluence of Advancements in Robotics, Vision and Interdisciplinary Technology Management (IC-RVITM)</a:t>
            </a:r>
            <a:r>
              <a:rPr lang="en-IN" dirty="0">
                <a:latin typeface="Times New Roman" panose="02020603050405020304" pitchFamily="18" charset="0"/>
                <a:cs typeface="Times New Roman" panose="02020603050405020304" pitchFamily="18" charset="0"/>
              </a:rPr>
              <a:t>, Bangalore, India.</a:t>
            </a:r>
            <a:br>
              <a:rPr lang="en-IN" dirty="0"/>
            </a:br>
            <a:endParaRPr lang="en-IN" dirty="0"/>
          </a:p>
        </p:txBody>
      </p:sp>
    </p:spTree>
    <p:extLst>
      <p:ext uri="{BB962C8B-B14F-4D97-AF65-F5344CB8AC3E}">
        <p14:creationId xmlns:p14="http://schemas.microsoft.com/office/powerpoint/2010/main" val="1011252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989E83-0A1D-118A-CEC7-637529CBD777}"/>
              </a:ext>
            </a:extLst>
          </p:cNvPr>
          <p:cNvSpPr txBox="1"/>
          <p:nvPr/>
        </p:nvSpPr>
        <p:spPr>
          <a:xfrm>
            <a:off x="1172936" y="560930"/>
            <a:ext cx="8534400" cy="563231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[11] A. K. Pal and S. Rai, "Toxicity Tweet Detection and Classification Using NLP Driven Techniques," 2023 IEEE International Conference on ICT in Business Industry &amp; Government (ICTBIG), Indore, India.</a:t>
            </a:r>
          </a:p>
          <a:p>
            <a:r>
              <a:rPr lang="en-IN" dirty="0">
                <a:latin typeface="Times New Roman" panose="02020603050405020304" pitchFamily="18" charset="0"/>
                <a:cs typeface="Times New Roman" panose="02020603050405020304" pitchFamily="18" charset="0"/>
              </a:rPr>
              <a:t>2022</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[12] A. K. Nikhath et al., "An Intelligent College Enquiry Bot using NLP and Deep Learning based techniques," 2022 International Conference for Advancement in Technology (ICONAT), Goa,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[13] S. N. Reddy Lakkireddy, A. A. Thomas, T. S. Shree and T. Mamatha, "Web-based Application for Real-Time Chatting using Firebase," 2022 International Conference on Knowledge Engineering and Communication Systems (ICKES), Chickballapur,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[14] N. Singh, G. Bathla and V. Sharma, "AI-powered Chatbot: A Link between Learning and Technology," 2022 11th International Conference on System Modeling &amp; Advancement in Research Trends (SMART), Moradabad,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[15] R. Vannala, S. B. Swathi and Y. Puranam, "AI Chatbot For Answering FAQ’s," 2022 IEEE 2nd International Conference on Sustainable Energy and Future Electric Transportation (SeFeT), Hyderabad,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[16] A. Garlapati, N. Malisetty and G. Narayanan, "Classification of Toxicity in Comments using NLP and LSTM," 2022 8th International Conference on Advanced Computing and Communication Systems (ICACCS), Coimbatore, India.</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5787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69C720-4A5A-8EB7-C944-B453A9ACA944}"/>
              </a:ext>
            </a:extLst>
          </p:cNvPr>
          <p:cNvSpPr txBox="1"/>
          <p:nvPr/>
        </p:nvSpPr>
        <p:spPr>
          <a:xfrm>
            <a:off x="1152525" y="612844"/>
            <a:ext cx="8689521" cy="563231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[17] S. Kumar, S. Kanshal, V. Sharma and R. Talwar, "Sentiment Analysis on Amazon Alexa Reviews Using NLP &amp; Classification," 2022 4th International Conference on Advances in Computing, Communication Control and Networking (ICAC3N), Greater Noida, India.</a:t>
            </a:r>
          </a:p>
          <a:p>
            <a:r>
              <a:rPr lang="en-IN" dirty="0">
                <a:latin typeface="Times New Roman" panose="02020603050405020304" pitchFamily="18" charset="0"/>
                <a:cs typeface="Times New Roman" panose="02020603050405020304" pitchFamily="18" charset="0"/>
              </a:rPr>
              <a:t>[18] V. S. A. Retna, P. Brundha and G. RajKumar, "People’s Behaviour Analysis in Chat Message using Natural Language Processing," </a:t>
            </a:r>
            <a:r>
              <a:rPr lang="en-IN" i="1" dirty="0">
                <a:latin typeface="Times New Roman" panose="02020603050405020304" pitchFamily="18" charset="0"/>
                <a:cs typeface="Times New Roman" panose="02020603050405020304" pitchFamily="18" charset="0"/>
              </a:rPr>
              <a:t>2021 Third International Conference on Intelligent Communication Technologies and Virtual Mobile Networks (ICICV)</a:t>
            </a:r>
            <a:r>
              <a:rPr lang="en-IN" dirty="0">
                <a:latin typeface="Times New Roman" panose="02020603050405020304" pitchFamily="18" charset="0"/>
                <a:cs typeface="Times New Roman" panose="02020603050405020304" pitchFamily="18" charset="0"/>
              </a:rPr>
              <a:t>, Tirunelveli,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[19] R. R. Kalangi, S. Maloji, N. Tejasri, P. P. Chand and V. P. Ch, "Sentiment Analysis using Machine Learning," </a:t>
            </a:r>
            <a:r>
              <a:rPr lang="en-IN" i="1" dirty="0">
                <a:latin typeface="Times New Roman" panose="02020603050405020304" pitchFamily="18" charset="0"/>
                <a:cs typeface="Times New Roman" panose="02020603050405020304" pitchFamily="18" charset="0"/>
              </a:rPr>
              <a:t>2021 3rd International Conference on Advances in Computing, Communication Control and Networking (ICAC3N)</a:t>
            </a:r>
            <a:r>
              <a:rPr lang="en-IN" dirty="0">
                <a:latin typeface="Times New Roman" panose="02020603050405020304" pitchFamily="18" charset="0"/>
                <a:cs typeface="Times New Roman" panose="02020603050405020304" pitchFamily="18" charset="0"/>
              </a:rPr>
              <a:t>, Greater Noida,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[20] T. Melo, A. Barros, M. Antunes and L. Frazão, "An end-to-end cryptography based real-time chat," </a:t>
            </a:r>
            <a:r>
              <a:rPr lang="en-IN" i="1" dirty="0">
                <a:latin typeface="Times New Roman" panose="02020603050405020304" pitchFamily="18" charset="0"/>
                <a:cs typeface="Times New Roman" panose="02020603050405020304" pitchFamily="18" charset="0"/>
              </a:rPr>
              <a:t>2021 16th Iberian Conference on Information Systems and Technologies (CISTI)</a:t>
            </a:r>
            <a:r>
              <a:rPr lang="en-IN" dirty="0">
                <a:latin typeface="Times New Roman" panose="02020603050405020304" pitchFamily="18" charset="0"/>
                <a:cs typeface="Times New Roman" panose="02020603050405020304" pitchFamily="18" charset="0"/>
              </a:rPr>
              <a:t>, Chaves, Portugal.</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[21] P. Thosani, M. Sinkar, J. Vaghasiya and R. Shankarmani, "A Self Learning Chat-Bot From User Interactions and Preferences," </a:t>
            </a:r>
            <a:r>
              <a:rPr lang="en-IN" i="1" dirty="0">
                <a:latin typeface="Times New Roman" panose="02020603050405020304" pitchFamily="18" charset="0"/>
                <a:cs typeface="Times New Roman" panose="02020603050405020304" pitchFamily="18" charset="0"/>
              </a:rPr>
              <a:t>2020 4th International Conference on Intelligent Computing and Control Systems (ICICCS)</a:t>
            </a:r>
            <a:r>
              <a:rPr lang="en-IN" dirty="0">
                <a:latin typeface="Times New Roman" panose="02020603050405020304" pitchFamily="18" charset="0"/>
                <a:cs typeface="Times New Roman" panose="02020603050405020304" pitchFamily="18" charset="0"/>
              </a:rPr>
              <a:t>, Madurai, India.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[22] S. Karthick, R. J. Victor, S. Manikandan and B. Goswami, "Professional chat application based on natural language processing," </a:t>
            </a:r>
            <a:r>
              <a:rPr lang="en-IN" i="1" dirty="0">
                <a:latin typeface="Times New Roman" panose="02020603050405020304" pitchFamily="18" charset="0"/>
                <a:cs typeface="Times New Roman" panose="02020603050405020304" pitchFamily="18" charset="0"/>
              </a:rPr>
              <a:t>2018 IEEE International Conference on Current Trends in Advanced Computing (ICCTAC)</a:t>
            </a:r>
            <a:r>
              <a:rPr lang="en-IN" dirty="0">
                <a:latin typeface="Times New Roman" panose="02020603050405020304" pitchFamily="18" charset="0"/>
                <a:cs typeface="Times New Roman" panose="02020603050405020304" pitchFamily="18" charset="0"/>
              </a:rPr>
              <a:t>, Bangalore, India.</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417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1566</TotalTime>
  <Words>2763</Words>
  <Application>Microsoft Office PowerPoint</Application>
  <PresentationFormat>Widescreen</PresentationFormat>
  <Paragraphs>253</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Times New Roman</vt:lpstr>
      <vt:lpstr>Trebuchet MS</vt:lpstr>
      <vt:lpstr>Wingdings</vt:lpstr>
      <vt:lpstr>Wingdings 3</vt:lpstr>
      <vt:lpstr>Facet</vt:lpstr>
      <vt:lpstr>Enhanced Natural Language Interaction Platform with offensive content filtering </vt:lpstr>
      <vt:lpstr>PowerPoint Presentation</vt:lpstr>
      <vt:lpstr>Introduction</vt:lpstr>
      <vt:lpstr>Objective </vt:lpstr>
      <vt:lpstr>PowerPoint Presentation</vt:lpstr>
      <vt:lpstr>PowerPoint Presentation</vt:lpstr>
      <vt:lpstr>Limitations in Existing Systems:</vt:lpstr>
      <vt:lpstr>Problem Statement</vt:lpstr>
      <vt:lpstr>System Design </vt:lpstr>
      <vt:lpstr>Technologies and methodologies </vt:lpstr>
      <vt:lpstr>Deep Learning Models:</vt:lpstr>
      <vt:lpstr>Experimental setup </vt:lpstr>
      <vt:lpstr>Implementation</vt:lpstr>
      <vt:lpstr>Implementation</vt:lpstr>
      <vt:lpstr>Model Performance Comparison:</vt:lpstr>
      <vt:lpstr>Conclusion</vt:lpstr>
      <vt:lpstr>References</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Shubham Patil</dc:creator>
  <cp:keywords/>
  <dc:description>generated using python-pptx</dc:description>
  <cp:lastModifiedBy>Shubham Patil</cp:lastModifiedBy>
  <cp:revision>18</cp:revision>
  <dcterms:created xsi:type="dcterms:W3CDTF">2013-01-27T09:14:16Z</dcterms:created>
  <dcterms:modified xsi:type="dcterms:W3CDTF">2026-04-23T07:16:12Z</dcterms:modified>
  <cp:category/>
</cp:coreProperties>
</file>